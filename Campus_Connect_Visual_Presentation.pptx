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40"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37234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respected examiners and faculty members. I am presenting our web development project: 'Campus Connect — Automated Multi-Role Resolution Portal'. It is a smart campus governance web platform designed to streamline infrastructure issue reporting, automated departmental routing, technician action, and verified resolution.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Campus Connect is an institutional grievance and infrastructure maintenance platform. In any college, maintenance issues occur daily. Campus Connect bridges the gap between students, administration, technicians, and faculty by providing role-based portals and automated dispatch.</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visual comparison highlights why traditional methods fail. Paper registers result in delayed responses, zero tracking, and no proof of work. Campus Connect solves every single one of these problems through a centralized, transparent web platform.</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project was built with 9 clear objectives in mind: centralized reporting, evidence upload, automatic hazard detection, departmental routing, technician action, mandatory proof of fix, faculty QA clearance, transparency, and data-driven analytics.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complete workflow diagram. It connects four major roles: Student, Admin, Technician, and Faculty. The ticket starts with Student reporting, gets audited by Admin, executed by Technician with proof, and certified by Faculty.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this slide, we dive deeper into each of the 4 lifecycle steps. Notice the strict checks: Admin prevents spam in Step 2, Technicians must upload photo proof in Step 3, and Faculty must physically inspect before final closure in Step 4.</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our technology stack. HTML provides structure, CSS and Tailwind handle our modern cyber-campus aesthetic and dark/light themes, JavaScript drives the entire state machine and dynamic UI, while Chart.js powers the analytics dashboards.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shows our clean modular project structure. We strictly followed separation of concerns: HTML for structure, CSS for styling, and JavaScript for behavior. State management and session SLA timers are centralized in main.js.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actual screenshot of our Home Page. It features modern glassmorphism typography, an emergency hazard reporting banner, 3D interactive feature cards, and theme switching. It provides immediate entry points to all portal features.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Login Page. It supports all 4 user roles with dedicated tabs. It includes client-side validation, demo quick-fill credentials, a new student registration modal, and a 15-minute session security SLA.</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Resolution Portal. Students can submit complaints with category, location, and photo/video evidence. The system automatically scans for hazard keywords to assign priority and generates a unique tracking ID.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shows the Role Dashboards. On screen is the Admin Console with Chart.js department analytics. Each role has a specialized workspace: Students track their 7-stage progress, Technicians upload photo proof, and Faculty performs QA audits.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Public Transparency Feed. It displays all campus complaints publicly, allowing students to check if an issue is already reported, view department filters, and inspect certified repair photos.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illustrates how the 5 pages connect seamlessly. A user can navigate from the Landing page to Login, enter their Dashboard, file a complaint via the modal, and track it through to the Public Feed.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JavaScript is the core engine of Campus Connect. It handles client-side state management, 7-stage progress calculation, role authentication, media uploads, Chart.js rendering, and 3D card animations without needing external frameworks.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UI/UX design follows a cyber-campus aesthetic with glassmorphism, 3D tilt effects, dark and light theme support, and smooth micro-animations. It looks premium, modern, and engaging.</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grid summarizes all 12 key features of Campus Connect, from multi-role governance and evidence capture to mandatory photo proof, faculty QA clearance, and CSV audit reports.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outlines our live demo flow. We will demonstrate logging in, filing a complaint, admin dispatch, technician proof upload, faculty QA approval, and live feed updates.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Campus Connect creates measurable institutional impact: 90% faster resolution turnaround, 100% transparency, elimination of paper registers, verified repair quality, and enhanced campus safety.</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conclusion, Campus Connect demonstrates the practical power of HTML, CSS, and JavaScript in solving a real-world campus problem. Thank you respected examiners and faculty members. I am now open to your questions and technical viva.</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10" name="Picture 9" descr="A black circle in a purple and orange color&#10;&#10;AI-generated content may be incorrect.">
            <a:extLst>
              <a:ext uri="{FF2B5EF4-FFF2-40B4-BE49-F238E27FC236}">
                <a16:creationId xmlns:a16="http://schemas.microsoft.com/office/drawing/2014/main" id="{C8E832A1-AE20-595C-6C6A-C6CAD6D72233}"/>
              </a:ext>
            </a:extLst>
          </p:cNvPr>
          <p:cNvPicPr>
            <a:picLocks noChangeAspect="1"/>
          </p:cNvPicPr>
          <p:nvPr/>
        </p:nvPicPr>
        <p:blipFill>
          <a:blip r:embed="rId2">
            <a:extLst>
              <a:ext uri="{28A0092B-C50C-407E-A947-70E740481C1C}">
                <a14:useLocalDpi xmlns:a14="http://schemas.microsoft.com/office/drawing/2010/main" val="0"/>
              </a:ext>
            </a:extLst>
          </a:blip>
          <a:srcRect l="14059" t="1529" r="16895" b="27442"/>
          <a:stretch>
            <a:fillRect/>
          </a:stretch>
        </p:blipFill>
        <p:spPr>
          <a:xfrm flipH="1">
            <a:off x="-27432" y="0"/>
            <a:ext cx="12219432" cy="6865715"/>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295259" y="1820486"/>
            <a:ext cx="4800600" cy="2762187"/>
          </a:xfrm>
        </p:spPr>
        <p:txBody>
          <a:bodyPr vert="horz" lIns="91440" tIns="45720" rIns="91440" bIns="45720" rtlCol="0" anchor="b">
            <a:normAutofit/>
          </a:bodyPr>
          <a:lstStyle>
            <a:lvl1pPr>
              <a:defRPr lang="en-US" sz="480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295260" y="4714821"/>
            <a:ext cx="3830874" cy="1496616"/>
          </a:xfrm>
        </p:spPr>
        <p:txBody>
          <a:bodyPr vert="horz" lIns="91440" tIns="45720" rIns="91440" bIns="45720" rtlCol="0" anchor="t">
            <a:normAutofit/>
          </a:bodyPr>
          <a:lstStyle>
            <a:lvl1pPr marL="0" indent="0">
              <a:buNone/>
              <a:defRPr lang="en-US" sz="1400" dirty="0">
                <a:solidFill>
                  <a:schemeClr val="tx1"/>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295259" y="219456"/>
            <a:ext cx="2703777" cy="338328"/>
          </a:xfrm>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235440" y="219456"/>
            <a:ext cx="1495365" cy="338328"/>
          </a:xfrm>
        </p:spPr>
        <p:txBody>
          <a:bodyPr/>
          <a:lstStyle>
            <a:lvl1pPr>
              <a:defRPr>
                <a:solidFill>
                  <a:schemeClr val="tx1"/>
                </a:solidFill>
              </a:defRPr>
            </a:lvl1pPr>
          </a:lstStyle>
          <a:p>
            <a:fld id="{5BCAD085-E8A6-8845-BD4E-CB4CCA059FC4}" type="datetimeFigureOut">
              <a:rPr lang="en-US" smtClean="0"/>
              <a:t>8/20/2026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8336120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217452" y="214858"/>
            <a:ext cx="1485900" cy="338328"/>
          </a:xfrm>
        </p:spPr>
        <p:txBody>
          <a:bodyPr/>
          <a:lstStyle>
            <a:lvl1pPr>
              <a:defRPr>
                <a:solidFill>
                  <a:schemeClr val="tx1"/>
                </a:solidFill>
              </a:defRPr>
            </a:lvl1pPr>
          </a:lstStyle>
          <a:p>
            <a:fld id="{5BCAD085-E8A6-8845-BD4E-CB4CCA059FC4}" type="datetimeFigureOut">
              <a:rPr lang="en-US" smtClean="0"/>
              <a:t>8/20/2026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037087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2">
    <p:spTree>
      <p:nvGrpSpPr>
        <p:cNvPr id="1" name=""/>
        <p:cNvGrpSpPr/>
        <p:nvPr/>
      </p:nvGrpSpPr>
      <p:grpSpPr>
        <a:xfrm>
          <a:off x="0" y="0"/>
          <a:ext cx="0" cy="0"/>
          <a:chOff x="0" y="0"/>
          <a:chExt cx="0" cy="0"/>
        </a:xfrm>
      </p:grpSpPr>
      <p:pic>
        <p:nvPicPr>
          <p:cNvPr id="7" name="Picture 6" descr="A black circle in a purple and orange color&#10;&#10;AI-generated content may be incorrect.">
            <a:extLst>
              <a:ext uri="{FF2B5EF4-FFF2-40B4-BE49-F238E27FC236}">
                <a16:creationId xmlns:a16="http://schemas.microsoft.com/office/drawing/2014/main" id="{6AC85073-6D22-76C5-C752-C565E9FBCC84}"/>
              </a:ext>
            </a:extLst>
          </p:cNvPr>
          <p:cNvPicPr>
            <a:picLocks noChangeAspect="1"/>
          </p:cNvPicPr>
          <p:nvPr/>
        </p:nvPicPr>
        <p:blipFill>
          <a:blip r:embed="rId2">
            <a:extLst>
              <a:ext uri="{28A0092B-C50C-407E-A947-70E740481C1C}">
                <a14:useLocalDpi xmlns:a14="http://schemas.microsoft.com/office/drawing/2010/main" val="0"/>
              </a:ext>
            </a:extLst>
          </a:blip>
          <a:srcRect l="1146" t="10520" r="14652" b="11508"/>
          <a:stretch>
            <a:fillRect/>
          </a:stretch>
        </p:blipFill>
        <p:spPr>
          <a:xfrm flipH="1">
            <a:off x="-2" y="11899"/>
            <a:ext cx="12192001" cy="6865715"/>
          </a:xfrm>
          <a:prstGeom prst="rect">
            <a:avLst/>
          </a:prstGeom>
        </p:spPr>
      </p:pic>
      <p:sp>
        <p:nvSpPr>
          <p:cNvPr id="9" name="Title 8">
            <a:extLst>
              <a:ext uri="{FF2B5EF4-FFF2-40B4-BE49-F238E27FC236}">
                <a16:creationId xmlns:a16="http://schemas.microsoft.com/office/drawing/2014/main" id="{BF6CFC71-0CC0-F6AB-06FD-5F2DE2587092}"/>
              </a:ext>
            </a:extLst>
          </p:cNvPr>
          <p:cNvSpPr>
            <a:spLocks noGrp="1"/>
          </p:cNvSpPr>
          <p:nvPr>
            <p:ph type="title"/>
          </p:nvPr>
        </p:nvSpPr>
        <p:spPr>
          <a:xfrm>
            <a:off x="420792" y="459253"/>
            <a:ext cx="5658468" cy="2691359"/>
          </a:xfrm>
        </p:spPr>
        <p:txBody>
          <a:bodyPr/>
          <a:lstStyle>
            <a:lvl1pPr>
              <a:defRPr sz="4600"/>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41932924-E87B-08A2-5EE3-BBA69699E24F}"/>
              </a:ext>
            </a:extLst>
          </p:cNvPr>
          <p:cNvSpPr>
            <a:spLocks noGrp="1"/>
          </p:cNvSpPr>
          <p:nvPr>
            <p:ph type="subTitle" idx="1"/>
          </p:nvPr>
        </p:nvSpPr>
        <p:spPr>
          <a:xfrm>
            <a:off x="7362264" y="516600"/>
            <a:ext cx="2593814" cy="1627886"/>
          </a:xfrm>
        </p:spPr>
        <p:txBody>
          <a:bodyPr vert="horz" lIns="91440" tIns="45720" rIns="91440" bIns="45720" rtlCol="0" anchor="t">
            <a:normAutofit/>
          </a:bodyPr>
          <a:lstStyle>
            <a:lvl1pPr marL="0" indent="0">
              <a:buNone/>
              <a:defRPr lang="en-US" sz="1200" dirty="0">
                <a:solidFill>
                  <a:schemeClr val="tx1"/>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362265" y="219456"/>
            <a:ext cx="2504049" cy="338328"/>
          </a:xfrm>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363200" y="219456"/>
            <a:ext cx="1146383" cy="338328"/>
          </a:xfrm>
        </p:spPr>
        <p:txBody>
          <a:bodyPr/>
          <a:lstStyle>
            <a:lvl1pPr>
              <a:defRPr>
                <a:solidFill>
                  <a:schemeClr val="tx1"/>
                </a:solidFill>
              </a:defRPr>
            </a:lvl1pPr>
          </a:lstStyle>
          <a:p>
            <a:fld id="{5BCAD085-E8A6-8845-BD4E-CB4CCA059FC4}" type="datetimeFigureOut">
              <a:rPr lang="en-US" smtClean="0"/>
              <a:t>8/20/2026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291657" y="219456"/>
            <a:ext cx="555948" cy="338328"/>
          </a:xfrm>
        </p:spPr>
        <p:txBody>
          <a:bodyPr/>
          <a:lstStyle>
            <a:lvl1pPr>
              <a:defRPr>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2821803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a:stretch>
          </a:blipFill>
        </p:spPr>
        <p:txBody>
          <a:bodyPr tIns="365760"/>
          <a:lstStyle>
            <a:lvl1pPr>
              <a:defRPr>
                <a:solidFill>
                  <a:schemeClr val="tx1"/>
                </a:solidFill>
              </a:defRPr>
            </a:lvl1pPr>
          </a:lstStyle>
          <a:p>
            <a:r>
              <a:rPr lang="en-US" dirty="0"/>
              <a:t>   </a:t>
            </a:r>
          </a:p>
        </p:txBody>
      </p:sp>
      <p:sp>
        <p:nvSpPr>
          <p:cNvPr id="15" name="Title 14">
            <a:extLst>
              <a:ext uri="{FF2B5EF4-FFF2-40B4-BE49-F238E27FC236}">
                <a16:creationId xmlns:a16="http://schemas.microsoft.com/office/drawing/2014/main" id="{7EB34FF5-770C-AA64-B806-5D6DED71138A}"/>
              </a:ext>
            </a:extLst>
          </p:cNvPr>
          <p:cNvSpPr>
            <a:spLocks noGrp="1"/>
          </p:cNvSpPr>
          <p:nvPr>
            <p:ph type="title"/>
          </p:nvPr>
        </p:nvSpPr>
        <p:spPr>
          <a:xfrm>
            <a:off x="0" y="4463843"/>
            <a:ext cx="12188952" cy="2394157"/>
          </a:xfrm>
          <a:gradFill>
            <a:gsLst>
              <a:gs pos="31000">
                <a:srgbClr val="000000">
                  <a:alpha val="30000"/>
                </a:srgbClr>
              </a:gs>
              <a:gs pos="87000">
                <a:srgbClr val="000000">
                  <a:alpha val="60000"/>
                </a:srgbClr>
              </a:gs>
              <a:gs pos="0">
                <a:srgbClr val="000000">
                  <a:alpha val="0"/>
                </a:srgbClr>
              </a:gs>
            </a:gsLst>
            <a:lin ang="5400000" scaled="0"/>
          </a:gradFill>
        </p:spPr>
        <p:txBody>
          <a:bodyPr lIns="502920" tIns="0" rIns="5029200" bIns="365760" anchor="b"/>
          <a:lstStyle>
            <a:lvl1pPr>
              <a:defRPr sz="4000">
                <a:solidFill>
                  <a:schemeClr val="tx1"/>
                </a:solidFill>
              </a:defRPr>
            </a:lvl1pPr>
          </a:lstStyle>
          <a:p>
            <a:r>
              <a:rPr lang="en-US"/>
              <a:t>Click to edit Master title style</a:t>
            </a:r>
            <a:endParaRPr lang="en-US" dirty="0"/>
          </a:p>
        </p:txBody>
      </p:sp>
      <p:sp>
        <p:nvSpPr>
          <p:cNvPr id="12" name="Subtitle 2">
            <a:extLst>
              <a:ext uri="{FF2B5EF4-FFF2-40B4-BE49-F238E27FC236}">
                <a16:creationId xmlns:a16="http://schemas.microsoft.com/office/drawing/2014/main" id="{49132BB0-A42B-7355-8046-F22B2344C64F}"/>
              </a:ext>
            </a:extLst>
          </p:cNvPr>
          <p:cNvSpPr>
            <a:spLocks noGrp="1"/>
          </p:cNvSpPr>
          <p:nvPr>
            <p:ph type="subTitle" idx="1"/>
          </p:nvPr>
        </p:nvSpPr>
        <p:spPr>
          <a:xfrm>
            <a:off x="8801099" y="4463843"/>
            <a:ext cx="3387853" cy="2394157"/>
          </a:xfrm>
        </p:spPr>
        <p:txBody>
          <a:bodyPr vert="horz" lIns="137160" tIns="365760" rIns="0" bIns="457200" rtlCol="0" anchor="b">
            <a:normAutofit/>
          </a:bodyPr>
          <a:lstStyle>
            <a:lvl1pPr marL="0" indent="0">
              <a:buNone/>
              <a:defRPr lang="en-US" sz="1400" dirty="0">
                <a:solidFill>
                  <a:schemeClr val="tx1"/>
                </a:solidFill>
              </a:defRPr>
            </a:lvl1pPr>
          </a:lstStyle>
          <a:p>
            <a:pPr lvl="0"/>
            <a:r>
              <a:rPr lang="en-US"/>
              <a:t>Click to edit Master subtitle style</a:t>
            </a:r>
            <a:endParaRPr lang="en-US" dirty="0"/>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437656" y="219456"/>
            <a:ext cx="2740616" cy="365760"/>
          </a:xfrm>
        </p:spPr>
        <p:txBody>
          <a:bodyPr/>
          <a:lstStyle>
            <a:lvl1pPr>
              <a:defRPr>
                <a:solidFill>
                  <a:schemeClr val="tx1"/>
                </a:solidFill>
              </a:defRPr>
            </a:lvl1pPr>
          </a:lstStyle>
          <a:p>
            <a:endParaRPr lang="en-US"/>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8866095" y="219456"/>
            <a:ext cx="1957990" cy="365760"/>
          </a:xfrm>
        </p:spPr>
        <p:txBody>
          <a:bodyPr/>
          <a:lstStyle>
            <a:lvl1pPr>
              <a:defRPr>
                <a:solidFill>
                  <a:schemeClr val="tx1"/>
                </a:solidFill>
              </a:defRPr>
            </a:lvl1pPr>
          </a:lstStyle>
          <a:p>
            <a:fld id="{5BCAD085-E8A6-8845-BD4E-CB4CCA059FC4}" type="datetimeFigureOut">
              <a:rPr lang="en-US" smtClean="0"/>
              <a:t>8/20/2026</a:t>
            </a:fld>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362195" y="219456"/>
            <a:ext cx="448805" cy="365760"/>
          </a:xfrm>
        </p:spPr>
        <p:txBody>
          <a:bodyPr/>
          <a:lstStyle>
            <a:lvl1pPr>
              <a:defRPr>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008234917"/>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10" name="Picture 9" descr="A close up of a colorful background&#10;&#10;AI-generated content may be incorrect.">
            <a:extLst>
              <a:ext uri="{FF2B5EF4-FFF2-40B4-BE49-F238E27FC236}">
                <a16:creationId xmlns:a16="http://schemas.microsoft.com/office/drawing/2014/main" id="{6F838A51-B977-1664-089F-3B2250DFEF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81172" cy="6858000"/>
          </a:xfrm>
          <a:prstGeom prst="rect">
            <a:avLst/>
          </a:prstGeom>
        </p:spPr>
      </p:pic>
      <p:sp>
        <p:nvSpPr>
          <p:cNvPr id="2" name="Title 1">
            <a:extLst>
              <a:ext uri="{FF2B5EF4-FFF2-40B4-BE49-F238E27FC236}">
                <a16:creationId xmlns:a16="http://schemas.microsoft.com/office/drawing/2014/main" id="{8892EA34-13CC-54C1-DE3D-4F1D5D55C9A7}"/>
              </a:ext>
            </a:extLst>
          </p:cNvPr>
          <p:cNvSpPr>
            <a:spLocks noGrp="1"/>
          </p:cNvSpPr>
          <p:nvPr>
            <p:ph type="title" hasCustomPrompt="1"/>
          </p:nvPr>
        </p:nvSpPr>
        <p:spPr>
          <a:xfrm>
            <a:off x="409980" y="4311805"/>
            <a:ext cx="8585337" cy="2368300"/>
          </a:xfrm>
        </p:spPr>
        <p:txBody>
          <a:bodyPr anchor="b">
            <a:normAutofit/>
          </a:bodyPr>
          <a:lstStyle>
            <a:lvl1pPr>
              <a:defRPr sz="6900">
                <a:solidFill>
                  <a:schemeClr val="tx1"/>
                </a:solidFill>
              </a:defRPr>
            </a:lvl1pPr>
          </a:lstStyle>
          <a:p>
            <a:r>
              <a:rPr lang="en-US" dirty="0"/>
              <a:t>Section Header</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419100" y="219456"/>
            <a:ext cx="2656178" cy="338328"/>
          </a:xfrm>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8801100" y="219456"/>
            <a:ext cx="1913256" cy="338328"/>
          </a:xfrm>
        </p:spPr>
        <p:txBody>
          <a:bodyPr/>
          <a:lstStyle>
            <a:lvl1pPr>
              <a:defRPr>
                <a:solidFill>
                  <a:schemeClr val="tx1"/>
                </a:solidFill>
              </a:defRPr>
            </a:lvl1pPr>
          </a:lstStyle>
          <a:p>
            <a:fld id="{5BCAD085-E8A6-8845-BD4E-CB4CCA059FC4}" type="datetimeFigureOut">
              <a:rPr lang="en-US" smtClean="0"/>
              <a:t>8/20/2026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291658" y="219456"/>
            <a:ext cx="555948" cy="338328"/>
          </a:xfrm>
        </p:spPr>
        <p:txBody>
          <a:bodyPr/>
          <a:lstStyle>
            <a:lvl1pPr>
              <a:defRPr>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978326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6" name="Picture 5" descr="A black background with a purple and orange light&#10;&#10;AI-generated content may be incorrect.">
            <a:extLst>
              <a:ext uri="{FF2B5EF4-FFF2-40B4-BE49-F238E27FC236}">
                <a16:creationId xmlns:a16="http://schemas.microsoft.com/office/drawing/2014/main" id="{D09BF41B-6D10-9A6E-03E4-5E7320A61D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2"/>
            <a:ext cx="12192000" cy="2869093"/>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68368" y="2138776"/>
            <a:ext cx="6433266" cy="1962149"/>
          </a:xfrm>
        </p:spPr>
        <p:txBody>
          <a:bodyPr anchor="t">
            <a:normAutofit/>
          </a:bodyPr>
          <a:lstStyle>
            <a:lvl1pPr>
              <a:defRPr sz="8800" baseline="0">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353300" y="214858"/>
            <a:ext cx="1485900" cy="338328"/>
          </a:xfrm>
        </p:spPr>
        <p:txBody>
          <a:bodyPr/>
          <a:lstStyle>
            <a:lvl1pPr>
              <a:defRPr>
                <a:solidFill>
                  <a:schemeClr val="tx1"/>
                </a:solidFill>
              </a:defRPr>
            </a:lvl1pPr>
          </a:lstStyle>
          <a:p>
            <a:fld id="{5BCAD085-E8A6-8845-BD4E-CB4CCA059FC4}" type="datetimeFigureOut">
              <a:rPr lang="en-US" smtClean="0"/>
              <a:t>8/20/2026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353301" y="2138776"/>
            <a:ext cx="3718420" cy="4109624"/>
          </a:xfrm>
        </p:spPr>
        <p:txBody>
          <a:bodyPr vert="horz" lIns="91440" tIns="45720" rIns="91440" bIns="45720" rtlCol="0" anchor="t">
            <a:normAutofit/>
          </a:bodyPr>
          <a:lstStyle>
            <a:lvl1pPr marL="457200" indent="-457200">
              <a:buFont typeface="+mj-lt"/>
              <a:buAutoNum type="arabicPeriod"/>
              <a:defRPr lang="en-US" sz="1400" dirty="0">
                <a:solidFill>
                  <a:schemeClr val="tx1"/>
                </a:solidFill>
              </a:defRPr>
            </a:lvl1pPr>
            <a:lvl2pPr marL="571500" indent="-342900">
              <a:buFont typeface="+mj-lt"/>
              <a:buAutoNum type="arabicPeriod"/>
              <a:defRPr lang="en-US" sz="1400" dirty="0">
                <a:solidFill>
                  <a:schemeClr val="tx1"/>
                </a:solidFill>
              </a:defRPr>
            </a:lvl2pPr>
            <a:lvl3pPr marL="800100" indent="-342900">
              <a:buFont typeface="+mj-lt"/>
              <a:buAutoNum type="arabicPeriod"/>
              <a:defRPr lang="en-US" sz="1400" dirty="0">
                <a:solidFill>
                  <a:schemeClr val="tx1"/>
                </a:solidFill>
              </a:defRPr>
            </a:lvl3pPr>
            <a:lvl4pPr>
              <a:buFont typeface="+mj-lt"/>
              <a:buAutoNum type="arabicPeriod"/>
              <a:defRPr lang="en-US" sz="1400" dirty="0">
                <a:solidFill>
                  <a:schemeClr val="tx1"/>
                </a:solidFill>
              </a:defRPr>
            </a:lvl4pPr>
            <a:lvl5pPr>
              <a:buFont typeface="+mj-lt"/>
              <a:buAutoNum type="arabicPeriod"/>
              <a:defRPr lang="en-US" sz="1400"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839176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bg>
      <p:bgPr>
        <a:solidFill>
          <a:srgbClr val="09090C"/>
        </a:solidFill>
        <a:effectLst/>
      </p:bgPr>
    </p:bg>
    <p:spTree>
      <p:nvGrpSpPr>
        <p:cNvPr id="1" name=""/>
        <p:cNvGrpSpPr/>
        <p:nvPr/>
      </p:nvGrpSpPr>
      <p:grpSpPr>
        <a:xfrm>
          <a:off x="0" y="0"/>
          <a:ext cx="0" cy="0"/>
          <a:chOff x="0" y="0"/>
          <a:chExt cx="0" cy="0"/>
        </a:xfrm>
      </p:grpSpPr>
      <p:pic>
        <p:nvPicPr>
          <p:cNvPr id="6" name="Picture 5" descr="A black background with a red and yellow light&#10;&#10;AI-generated content may be incorrect.">
            <a:extLst>
              <a:ext uri="{FF2B5EF4-FFF2-40B4-BE49-F238E27FC236}">
                <a16:creationId xmlns:a16="http://schemas.microsoft.com/office/drawing/2014/main" id="{BD349A90-08FB-AFC0-8649-56404DF7B8C2}"/>
              </a:ext>
            </a:extLst>
          </p:cNvPr>
          <p:cNvPicPr>
            <a:picLocks noChangeAspect="1"/>
          </p:cNvPicPr>
          <p:nvPr/>
        </p:nvPicPr>
        <p:blipFill>
          <a:blip r:embed="rId2">
            <a:extLst>
              <a:ext uri="{28A0092B-C50C-407E-A947-70E740481C1C}">
                <a14:useLocalDpi xmlns:a14="http://schemas.microsoft.com/office/drawing/2010/main" val="0"/>
              </a:ext>
            </a:extLst>
          </a:blip>
          <a:srcRect b="36109"/>
          <a:stretch>
            <a:fillRect/>
          </a:stretch>
        </p:blipFill>
        <p:spPr>
          <a:xfrm rot="10800000" flipH="1">
            <a:off x="-9982" y="2555751"/>
            <a:ext cx="12192000" cy="4343908"/>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90852" y="3481713"/>
            <a:ext cx="5496426" cy="2092272"/>
          </a:xfrm>
        </p:spPr>
        <p:txBody>
          <a:bodyPr anchor="t">
            <a:normAutofit/>
          </a:bodyPr>
          <a:lstStyle>
            <a:lvl1pPr>
              <a:defRPr sz="7600">
                <a:solidFill>
                  <a:schemeClr val="tx1"/>
                </a:solidFill>
              </a:defRPr>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743EA2DD-B019-E3AA-ACB7-13CC3353E8D4}"/>
              </a:ext>
            </a:extLst>
          </p:cNvPr>
          <p:cNvSpPr>
            <a:spLocks noGrp="1"/>
          </p:cNvSpPr>
          <p:nvPr>
            <p:ph type="pic" sz="quarter" idx="14" hasCustomPrompt="1"/>
          </p:nvPr>
        </p:nvSpPr>
        <p:spPr>
          <a:xfrm>
            <a:off x="0" y="0"/>
            <a:ext cx="12192000" cy="2555751"/>
          </a:xfrm>
          <a:blipFill>
            <a:blip r:embed="rId3">
              <a:alphaModFix amt="65000"/>
            </a:blip>
            <a:stretch>
              <a:fillRect/>
            </a:stretch>
          </a:blipFill>
        </p:spPr>
        <p:txBody>
          <a:bodyPr/>
          <a:lstStyle>
            <a:lvl1pPr>
              <a:defRPr>
                <a:solidFill>
                  <a:schemeClr val="tx1"/>
                </a:solidFill>
              </a:defRPr>
            </a:lvl1pPr>
          </a:lstStyle>
          <a:p>
            <a:r>
              <a:rPr lang="en-US" dirty="0"/>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33660" y="2734068"/>
            <a:ext cx="2727331" cy="338328"/>
          </a:xfrm>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785567" y="2734068"/>
            <a:ext cx="1586711" cy="338328"/>
          </a:xfrm>
        </p:spPr>
        <p:txBody>
          <a:bodyPr/>
          <a:lstStyle>
            <a:lvl1pPr>
              <a:defRPr>
                <a:solidFill>
                  <a:schemeClr val="tx1"/>
                </a:solidFill>
              </a:defRPr>
            </a:lvl1pPr>
          </a:lstStyle>
          <a:p>
            <a:fld id="{5BCAD085-E8A6-8845-BD4E-CB4CCA059FC4}" type="datetimeFigureOut">
              <a:rPr lang="en-US" smtClean="0"/>
              <a:t>8/20/2026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316614" y="2734068"/>
            <a:ext cx="526695" cy="338328"/>
          </a:xfrm>
        </p:spPr>
        <p:txBody>
          <a:bodyPr/>
          <a:lstStyle>
            <a:lvl1pPr>
              <a:defRPr>
                <a:solidFill>
                  <a:schemeClr val="tx1"/>
                </a:solidFill>
              </a:defRPr>
            </a:lvl1pPr>
          </a:lstStyle>
          <a:p>
            <a:fld id="{C1FF6DA9-008F-8B48-92A6-B652298478BF}"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785567" y="3481713"/>
            <a:ext cx="3916103" cy="2765887"/>
          </a:xfrm>
        </p:spPr>
        <p:txBody>
          <a:bodyPr vert="horz" lIns="91440" tIns="45720" rIns="91440" bIns="45720" rtlCol="0">
            <a:normAutofit/>
          </a:bodyPr>
          <a:lstStyle>
            <a:lvl1pPr marL="342900" indent="-342900">
              <a:lnSpc>
                <a:spcPct val="130000"/>
              </a:lnSpc>
              <a:buFont typeface="+mj-lt"/>
              <a:buAutoNum type="arabicPeriod"/>
              <a:defRPr lang="en-US" sz="1400" dirty="0">
                <a:solidFill>
                  <a:schemeClr val="tx1"/>
                </a:solidFill>
              </a:defRPr>
            </a:lvl1pPr>
            <a:lvl2pPr marL="571500" indent="-342900">
              <a:lnSpc>
                <a:spcPct val="130000"/>
              </a:lnSpc>
              <a:buFont typeface="+mj-lt"/>
              <a:buAutoNum type="arabicPeriod"/>
              <a:defRPr lang="en-US" sz="1400" dirty="0">
                <a:solidFill>
                  <a:schemeClr val="tx1"/>
                </a:solidFill>
              </a:defRPr>
            </a:lvl2pPr>
            <a:lvl3pPr marL="800100" indent="-342900">
              <a:lnSpc>
                <a:spcPct val="130000"/>
              </a:lnSpc>
              <a:buFont typeface="+mj-lt"/>
              <a:buAutoNum type="arabicPeriod"/>
              <a:defRPr lang="en-US" sz="1400" dirty="0">
                <a:solidFill>
                  <a:schemeClr val="tx1"/>
                </a:solidFill>
              </a:defRPr>
            </a:lvl3pPr>
            <a:lvl4pPr>
              <a:lnSpc>
                <a:spcPct val="130000"/>
              </a:lnSpc>
              <a:buFont typeface="+mj-lt"/>
              <a:buAutoNum type="arabicPeriod"/>
              <a:defRPr lang="en-US" sz="1400" dirty="0">
                <a:solidFill>
                  <a:schemeClr val="tx1"/>
                </a:solidFill>
              </a:defRPr>
            </a:lvl4pPr>
            <a:lvl5pPr>
              <a:lnSpc>
                <a:spcPct val="130000"/>
              </a:lnSpc>
              <a:buFont typeface="+mj-lt"/>
              <a:buAutoNum type="arabicPeriod"/>
              <a:defRPr lang="en-US" sz="1400" dirty="0">
                <a:solidFill>
                  <a:schemeClr val="tx1"/>
                </a:solidFill>
              </a:defRPr>
            </a:lvl5pPr>
          </a:lstStyle>
          <a:p>
            <a:pPr marL="228600" lvl="0" indent="-228600"/>
            <a:r>
              <a:rPr lang="en-US"/>
              <a:t>Click to edit Master text styles</a:t>
            </a:r>
          </a:p>
          <a:p>
            <a:pPr marL="228600" lvl="1" indent="-228600"/>
            <a:r>
              <a:rPr lang="en-US"/>
              <a:t>Second level</a:t>
            </a:r>
          </a:p>
          <a:p>
            <a:pPr marL="228600" lvl="2" indent="-228600"/>
            <a:r>
              <a:rPr lang="en-US"/>
              <a:t>Third level</a:t>
            </a:r>
          </a:p>
          <a:p>
            <a:pPr marL="228600" lvl="3" indent="-228600"/>
            <a:r>
              <a:rPr lang="en-US"/>
              <a:t>Fourth level</a:t>
            </a:r>
          </a:p>
          <a:p>
            <a:pPr marL="228600" lvl="4" indent="-228600"/>
            <a:r>
              <a:rPr lang="en-US"/>
              <a:t>Fifth level</a:t>
            </a:r>
            <a:endParaRPr lang="en-US" dirty="0"/>
          </a:p>
        </p:txBody>
      </p:sp>
    </p:spTree>
    <p:extLst>
      <p:ext uri="{BB962C8B-B14F-4D97-AF65-F5344CB8AC3E}">
        <p14:creationId xmlns:p14="http://schemas.microsoft.com/office/powerpoint/2010/main" val="36426143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pic>
        <p:nvPicPr>
          <p:cNvPr id="23" name="Picture 22" descr="A purple and black background&#10;&#10;AI-generated content may be incorrect.">
            <a:extLst>
              <a:ext uri="{FF2B5EF4-FFF2-40B4-BE49-F238E27FC236}">
                <a16:creationId xmlns:a16="http://schemas.microsoft.com/office/drawing/2014/main" id="{518E8C82-2B1B-76C7-A67D-099AEEEAD0DA}"/>
              </a:ext>
            </a:extLst>
          </p:cNvPr>
          <p:cNvPicPr>
            <a:picLocks noChangeAspect="1"/>
          </p:cNvPicPr>
          <p:nvPr/>
        </p:nvPicPr>
        <p:blipFill>
          <a:blip r:embed="rId2">
            <a:extLst>
              <a:ext uri="{28A0092B-C50C-407E-A947-70E740481C1C}">
                <a14:useLocalDpi xmlns:a14="http://schemas.microsoft.com/office/drawing/2010/main" val="0"/>
              </a:ext>
            </a:extLst>
          </a:blip>
          <a:srcRect l="11509"/>
          <a:stretch>
            <a:fillRect/>
          </a:stretch>
        </p:blipFill>
        <p:spPr>
          <a:xfrm>
            <a:off x="6324601" y="1"/>
            <a:ext cx="5881254"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18851" y="1276990"/>
            <a:ext cx="5378267" cy="985658"/>
          </a:xfrm>
        </p:spPr>
        <p:txBody>
          <a:bodyPr anchor="b"/>
          <a:lstStyle>
            <a:lvl1pPr>
              <a:defRPr>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8801100" y="214858"/>
            <a:ext cx="1941840" cy="338328"/>
          </a:xfrm>
        </p:spPr>
        <p:txBody>
          <a:bodyPr/>
          <a:lstStyle>
            <a:lvl1pPr>
              <a:defRPr>
                <a:solidFill>
                  <a:schemeClr val="tx1"/>
                </a:solidFill>
              </a:defRPr>
            </a:lvl1pPr>
          </a:lstStyle>
          <a:p>
            <a:fld id="{5BCAD085-E8A6-8845-BD4E-CB4CCA059FC4}" type="datetimeFigureOut">
              <a:rPr lang="en-US" smtClean="0"/>
              <a:t>8/20/2026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0295" y="214858"/>
            <a:ext cx="555948" cy="338328"/>
          </a:xfrm>
        </p:spPr>
        <p:txBody>
          <a:bodyPr/>
          <a:lstStyle>
            <a:lvl1pPr>
              <a:defRPr>
                <a:solidFill>
                  <a:schemeClr val="tx1"/>
                </a:solidFill>
              </a:defRPr>
            </a:lvl1pPr>
          </a:lstStyle>
          <a:p>
            <a:fld id="{C1FF6DA9-008F-8B48-92A6-B652298478BF}" type="slidenum">
              <a:rPr lang="en-US" smtClean="0"/>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27477" y="2471736"/>
            <a:ext cx="5378268" cy="366273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513996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bg>
      <p:bgPr>
        <a:solidFill>
          <a:srgbClr val="09090C"/>
        </a:solidFill>
        <a:effectLst/>
      </p:bgPr>
    </p:bg>
    <p:spTree>
      <p:nvGrpSpPr>
        <p:cNvPr id="1" name=""/>
        <p:cNvGrpSpPr/>
        <p:nvPr/>
      </p:nvGrpSpPr>
      <p:grpSpPr>
        <a:xfrm>
          <a:off x="0" y="0"/>
          <a:ext cx="0" cy="0"/>
          <a:chOff x="0" y="0"/>
          <a:chExt cx="0" cy="0"/>
        </a:xfrm>
      </p:grpSpPr>
      <p:pic>
        <p:nvPicPr>
          <p:cNvPr id="9" name="Picture 8" descr="A black background with a purple and orange light&#10;&#10;AI-generated content may be incorrect.">
            <a:extLst>
              <a:ext uri="{FF2B5EF4-FFF2-40B4-BE49-F238E27FC236}">
                <a16:creationId xmlns:a16="http://schemas.microsoft.com/office/drawing/2014/main" id="{E41EB56E-DF88-E5AB-35AF-891395DCDB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4406900"/>
            <a:ext cx="9144000" cy="24511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899" y="1886712"/>
            <a:ext cx="3507989" cy="3233928"/>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19100" y="208394"/>
            <a:ext cx="2532118" cy="338328"/>
          </a:xfrm>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5867400" y="208394"/>
            <a:ext cx="2017548" cy="338328"/>
          </a:xfrm>
        </p:spPr>
        <p:txBody>
          <a:bodyPr/>
          <a:lstStyle>
            <a:lvl1pPr>
              <a:defRPr>
                <a:solidFill>
                  <a:schemeClr val="tx1"/>
                </a:solidFill>
              </a:defRPr>
            </a:lvl1pPr>
          </a:lstStyle>
          <a:p>
            <a:fld id="{5BCAD085-E8A6-8845-BD4E-CB4CCA059FC4}" type="datetimeFigureOut">
              <a:rPr lang="en-US" smtClean="0"/>
              <a:t>8/20/2026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6588" y="208394"/>
            <a:ext cx="553156" cy="338328"/>
          </a:xfrm>
        </p:spPr>
        <p:txBody>
          <a:bodyPr/>
          <a:lstStyle>
            <a:lvl1pPr>
              <a:defRPr>
                <a:solidFill>
                  <a:schemeClr val="tx1"/>
                </a:solidFill>
              </a:defRPr>
            </a:lvl1p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867401" y="1886712"/>
            <a:ext cx="4495800" cy="3233928"/>
          </a:xfrm>
        </p:spPr>
        <p:txBody>
          <a:bodyPr vert="horz" lIns="91440" tIns="45720" rIns="91440" bIns="45720" rtlCol="0">
            <a:normAutofit/>
          </a:bodyPr>
          <a:lstStyle>
            <a:lvl1pPr>
              <a:defRPr lang="en-US">
                <a:solidFill>
                  <a:schemeClr val="tx1"/>
                </a:solidFill>
              </a:defRPr>
            </a:lvl1pPr>
            <a:lvl2pPr>
              <a:defRPr lang="en-US">
                <a:solidFill>
                  <a:schemeClr val="tx1"/>
                </a:solidFill>
              </a:defRPr>
            </a:lvl2pPr>
            <a:lvl3pPr>
              <a:defRPr lang="en-US">
                <a:solidFill>
                  <a:schemeClr val="tx1"/>
                </a:solidFill>
              </a:defRPr>
            </a:lvl3pPr>
            <a:lvl4pPr>
              <a:defRPr lang="en-US">
                <a:solidFill>
                  <a:schemeClr val="tx1"/>
                </a:solidFill>
              </a:defRPr>
            </a:lvl4pPr>
            <a:lvl5pPr>
              <a:defRPr lang="en-US">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890210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8436" y="1115568"/>
            <a:ext cx="2505264" cy="1624122"/>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684048"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74064" y="215823"/>
            <a:ext cx="1485900" cy="338328"/>
          </a:xfrm>
        </p:spPr>
        <p:txBody>
          <a:bodyPr/>
          <a:lstStyle>
            <a:lvl1pPr>
              <a:defRPr>
                <a:solidFill>
                  <a:schemeClr val="tx1"/>
                </a:solidFill>
                <a:effectLst/>
              </a:defRPr>
            </a:lvl1pPr>
          </a:lstStyle>
          <a:p>
            <a:fld id="{5BCAD085-E8A6-8845-BD4E-CB4CCA059FC4}" type="datetimeFigureOut">
              <a:rPr lang="en-US" smtClean="0"/>
              <a:t>8/20/2026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8242" y="215823"/>
            <a:ext cx="549272" cy="338328"/>
          </a:xfrm>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8436" y="3028523"/>
            <a:ext cx="2505264" cy="3410378"/>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DB2531DA-E07E-34C2-010B-27DB8B004926}"/>
              </a:ext>
            </a:extLst>
          </p:cNvPr>
          <p:cNvSpPr>
            <a:spLocks noGrp="1"/>
          </p:cNvSpPr>
          <p:nvPr>
            <p:ph type="pic" sz="quarter" idx="15" hasCustomPrompt="1"/>
          </p:nvPr>
        </p:nvSpPr>
        <p:spPr>
          <a:xfrm>
            <a:off x="3374064" y="1181100"/>
            <a:ext cx="8817936" cy="5676900"/>
          </a:xfrm>
          <a:blipFill>
            <a:blip r:embed="rId2">
              <a:alphaModFix amt="65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37878938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4000500" cy="1352516"/>
          </a:xfrm>
        </p:spPr>
        <p:txBody>
          <a:bodyPr anchor="t">
            <a:normAutofit/>
          </a:bodyPr>
          <a:lstStyle>
            <a:lvl1pPr>
              <a:defRPr sz="300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19456"/>
            <a:ext cx="2727930"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47899" y="219456"/>
            <a:ext cx="1747774" cy="338328"/>
          </a:xfrm>
        </p:spPr>
        <p:txBody>
          <a:bodyPr/>
          <a:lstStyle/>
          <a:p>
            <a:fld id="{5BCAD085-E8A6-8845-BD4E-CB4CCA059FC4}" type="datetimeFigureOut">
              <a:rPr lang="en-US" smtClean="0"/>
              <a:t>8/20/2026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3948" y="216280"/>
            <a:ext cx="551113" cy="338328"/>
          </a:xfrm>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7899" y="1104900"/>
            <a:ext cx="6925002" cy="1352516"/>
          </a:xfrm>
        </p:spPr>
        <p:txBody>
          <a:bodyPr>
            <a:normAutofit/>
          </a:bodyPr>
          <a:lstStyle>
            <a:lvl1pPr marL="285750" indent="-285750">
              <a:buFont typeface="Arial" panose="020B0604020202020204" pitchFamily="34" charset="0"/>
              <a:buNone/>
              <a:defRPr sz="1400"/>
            </a:lvl1pPr>
            <a:lvl2pPr marL="514350" indent="-285750">
              <a:buFont typeface="Arial" panose="020B0604020202020204" pitchFamily="34" charset="0"/>
              <a:buNone/>
              <a:defRPr sz="1400"/>
            </a:lvl2pPr>
            <a:lvl3pPr marL="742950" indent="-285750">
              <a:buFont typeface="Arial" panose="020B0604020202020204" pitchFamily="34" charset="0"/>
              <a:buNone/>
              <a:defRPr sz="1400"/>
            </a:lvl3pPr>
            <a:lvl4pPr marL="857250" indent="-171450">
              <a:buFont typeface="Arial" panose="020B0604020202020204" pitchFamily="34" charset="0"/>
              <a:buNone/>
              <a:defRPr sz="1400"/>
            </a:lvl4pPr>
            <a:lvl5pPr marL="1085850" indent="-17145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Picture Placeholder 2">
            <a:extLst>
              <a:ext uri="{FF2B5EF4-FFF2-40B4-BE49-F238E27FC236}">
                <a16:creationId xmlns:a16="http://schemas.microsoft.com/office/drawing/2014/main" id="{C346877B-7C99-D26C-DFEC-72A4289A8FAC}"/>
              </a:ext>
            </a:extLst>
          </p:cNvPr>
          <p:cNvSpPr>
            <a:spLocks noGrp="1"/>
          </p:cNvSpPr>
          <p:nvPr>
            <p:ph type="pic" sz="quarter" idx="15" hasCustomPrompt="1"/>
          </p:nvPr>
        </p:nvSpPr>
        <p:spPr>
          <a:xfrm>
            <a:off x="0" y="2938509"/>
            <a:ext cx="12192000" cy="3919491"/>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24528697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2514600" cy="2918919"/>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514600" cy="338328"/>
          </a:xfrm>
        </p:spPr>
        <p:txBody>
          <a:bodyPr/>
          <a:lstStyle>
            <a:lvl1pPr>
              <a:defRPr>
                <a:solidFill>
                  <a:schemeClr val="tx1"/>
                </a:solidFill>
                <a:effectLst/>
              </a:defRPr>
            </a:lvl1pPr>
          </a:lstStyle>
          <a:p>
            <a:endParaRPr lang="en-US"/>
          </a:p>
        </p:txBody>
      </p:sp>
      <p:sp>
        <p:nvSpPr>
          <p:cNvPr id="9" name="Picture Placeholder 8">
            <a:extLst>
              <a:ext uri="{FF2B5EF4-FFF2-40B4-BE49-F238E27FC236}">
                <a16:creationId xmlns:a16="http://schemas.microsoft.com/office/drawing/2014/main" id="{1EB6A322-B3CC-9AE7-DB63-8B433811BD63}"/>
              </a:ext>
            </a:extLst>
          </p:cNvPr>
          <p:cNvSpPr>
            <a:spLocks noGrp="1"/>
          </p:cNvSpPr>
          <p:nvPr>
            <p:ph type="pic" sz="quarter" idx="15" hasCustomPrompt="1"/>
          </p:nvPr>
        </p:nvSpPr>
        <p:spPr>
          <a:xfrm>
            <a:off x="3423747" y="0"/>
            <a:ext cx="8768253" cy="3985719"/>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52800" y="4077628"/>
            <a:ext cx="1920240" cy="338328"/>
          </a:xfrm>
        </p:spPr>
        <p:txBody>
          <a:bodyPr/>
          <a:lstStyle/>
          <a:p>
            <a:fld id="{5BCAD085-E8A6-8845-BD4E-CB4CCA059FC4}" type="datetimeFigureOut">
              <a:rPr lang="en-US" smtClean="0"/>
              <a:t>8/20/2026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1657" y="4077628"/>
            <a:ext cx="555948" cy="338328"/>
          </a:xfrm>
        </p:spPr>
        <p:txBody>
          <a:bodyPr/>
          <a:lstStyle>
            <a:lvl1pPr>
              <a:defRPr>
                <a:solidFill>
                  <a:schemeClr val="tx1"/>
                </a:solidFill>
                <a:effectLst/>
              </a:defRPr>
            </a:lvl1p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352800" y="4423576"/>
            <a:ext cx="8420100" cy="1824824"/>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640686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881339" y="1115568"/>
            <a:ext cx="5247577" cy="994131"/>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933700"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896579" y="209088"/>
            <a:ext cx="1844044" cy="338328"/>
          </a:xfrm>
        </p:spPr>
        <p:txBody>
          <a:bodyPr/>
          <a:lstStyle>
            <a:lvl1pPr>
              <a:defRPr>
                <a:solidFill>
                  <a:schemeClr val="tx1"/>
                </a:solidFill>
                <a:effectLst/>
              </a:defRPr>
            </a:lvl1pPr>
          </a:lstStyle>
          <a:p>
            <a:fld id="{5BCAD085-E8A6-8845-BD4E-CB4CCA059FC4}" type="datetimeFigureOut">
              <a:rPr lang="en-US" smtClean="0"/>
              <a:t>8/20/2026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34185" y="209088"/>
            <a:ext cx="555948" cy="338328"/>
          </a:xfrm>
        </p:spPr>
        <p:txBody>
          <a:bodyPr/>
          <a:lstStyle/>
          <a:p>
            <a:fld id="{C1FF6DA9-008F-8B48-92A6-B652298478BF}" type="slidenum">
              <a:rPr lang="en-US" smtClean="0"/>
              <a:t>‹#›</a:t>
            </a:fld>
            <a:endParaRPr lang="en-US"/>
          </a:p>
        </p:txBody>
      </p:sp>
      <p:sp>
        <p:nvSpPr>
          <p:cNvPr id="4" name="Picture Placeholder 3">
            <a:extLst>
              <a:ext uri="{FF2B5EF4-FFF2-40B4-BE49-F238E27FC236}">
                <a16:creationId xmlns:a16="http://schemas.microsoft.com/office/drawing/2014/main" id="{F3BFBE8F-8803-50FD-04BC-3A247F9767CF}"/>
              </a:ext>
            </a:extLst>
          </p:cNvPr>
          <p:cNvSpPr>
            <a:spLocks noGrp="1"/>
          </p:cNvSpPr>
          <p:nvPr>
            <p:ph type="pic" sz="quarter" idx="15" hasCustomPrompt="1"/>
          </p:nvPr>
        </p:nvSpPr>
        <p:spPr>
          <a:xfrm>
            <a:off x="0" y="1181100"/>
            <a:ext cx="5247577" cy="5676900"/>
          </a:xfrm>
          <a:blipFill>
            <a:blip r:embed="rId2">
              <a:alphaModFix amt="65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881339" y="2133600"/>
            <a:ext cx="5247577" cy="41148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482160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6057" y="1115568"/>
            <a:ext cx="3607670" cy="3170545"/>
          </a:xfrm>
        </p:spPr>
        <p:txBody>
          <a:bodyPr anchor="t">
            <a:normAutofit/>
          </a:bodyPr>
          <a:lstStyle>
            <a:lvl1pPr>
              <a:defRPr sz="300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4858"/>
            <a:ext cx="2597106"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45909" y="214858"/>
            <a:ext cx="1586711" cy="338328"/>
          </a:xfrm>
        </p:spPr>
        <p:txBody>
          <a:bodyPr/>
          <a:lstStyle/>
          <a:p>
            <a:fld id="{5BCAD085-E8A6-8845-BD4E-CB4CCA059FC4}" type="datetimeFigureOut">
              <a:rPr lang="en-US" smtClean="0"/>
              <a:t>8/20/2026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7610" y="214858"/>
            <a:ext cx="555948" cy="338328"/>
          </a:xfrm>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5909" y="1112672"/>
            <a:ext cx="6926991" cy="1967808"/>
          </a:xfrm>
        </p:spPr>
        <p:txBody>
          <a:bodyP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121707E4-5122-AA3B-7CFC-6AF9C0BAC463}"/>
              </a:ext>
            </a:extLst>
          </p:cNvPr>
          <p:cNvSpPr>
            <a:spLocks noGrp="1"/>
          </p:cNvSpPr>
          <p:nvPr>
            <p:ph type="pic" sz="quarter" idx="15" hasCustomPrompt="1"/>
          </p:nvPr>
        </p:nvSpPr>
        <p:spPr>
          <a:xfrm>
            <a:off x="4903079" y="3500203"/>
            <a:ext cx="7288921" cy="3357797"/>
          </a:xfrm>
          <a:custGeom>
            <a:avLst/>
            <a:gdLst>
              <a:gd name="connsiteX0" fmla="*/ 0 w 7391400"/>
              <a:gd name="connsiteY0" fmla="*/ 0 h 3018269"/>
              <a:gd name="connsiteX1" fmla="*/ 7391400 w 7391400"/>
              <a:gd name="connsiteY1" fmla="*/ 0 h 3018269"/>
              <a:gd name="connsiteX2" fmla="*/ 7391400 w 7391400"/>
              <a:gd name="connsiteY2" fmla="*/ 3018269 h 3018269"/>
              <a:gd name="connsiteX3" fmla="*/ 0 w 7391400"/>
              <a:gd name="connsiteY3" fmla="*/ 3018269 h 3018269"/>
            </a:gdLst>
            <a:ahLst/>
            <a:cxnLst>
              <a:cxn ang="0">
                <a:pos x="connsiteX0" y="connsiteY0"/>
              </a:cxn>
              <a:cxn ang="0">
                <a:pos x="connsiteX1" y="connsiteY1"/>
              </a:cxn>
              <a:cxn ang="0">
                <a:pos x="connsiteX2" y="connsiteY2"/>
              </a:cxn>
              <a:cxn ang="0">
                <a:pos x="connsiteX3" y="connsiteY3"/>
              </a:cxn>
            </a:cxnLst>
            <a:rect l="l" t="t" r="r" b="b"/>
            <a:pathLst>
              <a:path w="7391400" h="3018269">
                <a:moveTo>
                  <a:pt x="0" y="0"/>
                </a:moveTo>
                <a:lnTo>
                  <a:pt x="7391400" y="0"/>
                </a:lnTo>
                <a:lnTo>
                  <a:pt x="7391400" y="3018269"/>
                </a:lnTo>
                <a:lnTo>
                  <a:pt x="0" y="3018269"/>
                </a:lnTo>
                <a:close/>
              </a:path>
            </a:pathLst>
          </a:cu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31516750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2393" y="3429001"/>
            <a:ext cx="2501307" cy="2551982"/>
          </a:xfrm>
        </p:spPr>
        <p:txBody>
          <a:bodyPr anchor="t">
            <a:normAutofit/>
          </a:bodyPr>
          <a:lstStyle>
            <a:lvl1pPr>
              <a:defRPr sz="3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8402C8AD-A927-B946-5850-6500487D6883}"/>
              </a:ext>
            </a:extLst>
          </p:cNvPr>
          <p:cNvSpPr>
            <a:spLocks noGrp="1"/>
          </p:cNvSpPr>
          <p:nvPr>
            <p:ph type="pic" sz="quarter" idx="15" hasCustomPrompt="1"/>
          </p:nvPr>
        </p:nvSpPr>
        <p:spPr>
          <a:xfrm>
            <a:off x="0" y="1"/>
            <a:ext cx="12192000" cy="2705099"/>
          </a:xfrm>
          <a:blipFill>
            <a:blip r:embed="rId2">
              <a:alphaModFix amt="60000"/>
            </a:blip>
            <a:stretch>
              <a:fillRect/>
            </a:stretch>
          </a:blipFill>
        </p:spPr>
        <p:txBody>
          <a:bodyPr/>
          <a:lstStyle>
            <a:lvl1pPr>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865290"/>
            <a:ext cx="2726376"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52799" y="2865290"/>
            <a:ext cx="1967345" cy="338328"/>
          </a:xfrm>
        </p:spPr>
        <p:txBody>
          <a:bodyPr/>
          <a:lstStyle/>
          <a:p>
            <a:fld id="{5BCAD085-E8A6-8845-BD4E-CB4CCA059FC4}" type="datetimeFigureOut">
              <a:rPr lang="en-US" smtClean="0"/>
              <a:t>8/20/2026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1657" y="2865290"/>
            <a:ext cx="555948" cy="338328"/>
          </a:xfrm>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352800" y="3429000"/>
            <a:ext cx="8210204" cy="3009900"/>
          </a:xfrm>
        </p:spPr>
        <p:txBody>
          <a:bodyP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874991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6230" y="1115568"/>
            <a:ext cx="3603256" cy="1409878"/>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38700" y="209088"/>
            <a:ext cx="2514600" cy="338328"/>
          </a:xfrm>
        </p:spPr>
        <p:txBody>
          <a:bodyPr/>
          <a:lstStyle/>
          <a:p>
            <a:fld id="{5BCAD085-E8A6-8845-BD4E-CB4CCA059FC4}" type="datetimeFigureOut">
              <a:rPr lang="en-US" smtClean="0"/>
              <a:t>8/20/2026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86019" y="219456"/>
            <a:ext cx="564341" cy="338328"/>
          </a:xfrm>
        </p:spPr>
        <p:txBody>
          <a:bodyPr/>
          <a:lstStyle>
            <a:lvl1pPr>
              <a:defRPr>
                <a:solidFill>
                  <a:schemeClr val="tx1"/>
                </a:solidFill>
                <a:effectLst/>
              </a:defRPr>
            </a:lvl1p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46230" y="2705100"/>
            <a:ext cx="3603256" cy="36957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183D1CED-EDC4-B2B7-E11C-EF0ED41A9136}"/>
              </a:ext>
            </a:extLst>
          </p:cNvPr>
          <p:cNvSpPr>
            <a:spLocks noGrp="1"/>
          </p:cNvSpPr>
          <p:nvPr>
            <p:ph type="pic" sz="quarter" idx="15" hasCustomPrompt="1"/>
          </p:nvPr>
        </p:nvSpPr>
        <p:spPr>
          <a:xfrm>
            <a:off x="4935269" y="1175658"/>
            <a:ext cx="7256731" cy="5682342"/>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21362839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4607626"/>
            <a:ext cx="4419600" cy="1640774"/>
          </a:xfrm>
        </p:spPr>
        <p:txBody>
          <a:bodyPr anchor="t"/>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04508209-B462-E74A-288F-8910B06DE3A1}"/>
              </a:ext>
            </a:extLst>
          </p:cNvPr>
          <p:cNvSpPr>
            <a:spLocks noGrp="1"/>
          </p:cNvSpPr>
          <p:nvPr>
            <p:ph type="pic" sz="quarter" idx="15" hasCustomPrompt="1"/>
          </p:nvPr>
        </p:nvSpPr>
        <p:spPr>
          <a:xfrm>
            <a:off x="1914" y="0"/>
            <a:ext cx="4836786" cy="4214191"/>
          </a:xfrm>
          <a:blipFill>
            <a:blip r:embed="rId2">
              <a:alphaModFix amt="60000"/>
            </a:blip>
            <a:stretch>
              <a:fillRect/>
            </a:stretch>
          </a:blipFill>
        </p:spPr>
        <p:txBody>
          <a:bodyPr/>
          <a:lstStyle>
            <a:lvl1pPr>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541275" y="209088"/>
            <a:ext cx="2726376"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01100" y="214858"/>
            <a:ext cx="1905250" cy="338328"/>
          </a:xfrm>
        </p:spPr>
        <p:txBody>
          <a:bodyPr/>
          <a:lstStyle>
            <a:lvl1pPr>
              <a:defRPr>
                <a:solidFill>
                  <a:schemeClr val="tx1"/>
                </a:solidFill>
                <a:effectLst/>
              </a:defRPr>
            </a:lvl1pPr>
          </a:lstStyle>
          <a:p>
            <a:fld id="{5BCAD085-E8A6-8845-BD4E-CB4CCA059FC4}" type="datetimeFigureOut">
              <a:rPr lang="en-US" smtClean="0"/>
              <a:t>8/20/2026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41276" y="1104900"/>
            <a:ext cx="5750381" cy="5143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25388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3105335" cy="1636510"/>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726376"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055522" y="214858"/>
            <a:ext cx="2536988" cy="338328"/>
          </a:xfrm>
        </p:spPr>
        <p:txBody>
          <a:bodyPr/>
          <a:lstStyle/>
          <a:p>
            <a:fld id="{5BCAD085-E8A6-8845-BD4E-CB4CCA059FC4}" type="datetimeFigureOut">
              <a:rPr lang="en-US" smtClean="0"/>
              <a:t>8/20/2026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2840" y="214858"/>
            <a:ext cx="555948" cy="338328"/>
          </a:xfrm>
        </p:spPr>
        <p:txBody>
          <a:bodyPr/>
          <a:lstStyle/>
          <a:p>
            <a:fld id="{C1FF6DA9-008F-8B48-92A6-B652298478BF}" type="slidenum">
              <a:rPr lang="en-US" smtClean="0"/>
              <a:t>‹#›</a:t>
            </a:fld>
            <a:endParaRPr lang="en-US"/>
          </a:p>
        </p:txBody>
      </p:sp>
      <p:sp>
        <p:nvSpPr>
          <p:cNvPr id="4" name="Picture Placeholder 3">
            <a:extLst>
              <a:ext uri="{FF2B5EF4-FFF2-40B4-BE49-F238E27FC236}">
                <a16:creationId xmlns:a16="http://schemas.microsoft.com/office/drawing/2014/main" id="{EA8D0EC2-AB64-20F7-00E1-73B35DEAA2D7}"/>
              </a:ext>
            </a:extLst>
          </p:cNvPr>
          <p:cNvSpPr>
            <a:spLocks noGrp="1"/>
          </p:cNvSpPr>
          <p:nvPr>
            <p:ph type="pic" sz="quarter" idx="15" hasCustomPrompt="1"/>
          </p:nvPr>
        </p:nvSpPr>
        <p:spPr>
          <a:xfrm>
            <a:off x="1" y="3017520"/>
            <a:ext cx="3417902" cy="3840480"/>
          </a:xfrm>
          <a:blipFill>
            <a:blip r:embed="rId2">
              <a:alphaModFix amt="65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055522" y="1104901"/>
            <a:ext cx="7476571" cy="53339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896934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pic>
        <p:nvPicPr>
          <p:cNvPr id="6" name="Picture 5" descr="A close up of a colorful background&#10;&#10;AI-generated content may be incorrect.">
            <a:extLst>
              <a:ext uri="{FF2B5EF4-FFF2-40B4-BE49-F238E27FC236}">
                <a16:creationId xmlns:a16="http://schemas.microsoft.com/office/drawing/2014/main" id="{C26FEAF5-B987-7B83-7D1F-A4C535E2B000}"/>
              </a:ext>
            </a:extLst>
          </p:cNvPr>
          <p:cNvPicPr>
            <a:picLocks noChangeAspect="1"/>
          </p:cNvPicPr>
          <p:nvPr/>
        </p:nvPicPr>
        <p:blipFill>
          <a:blip r:embed="rId2">
            <a:extLst>
              <a:ext uri="{28A0092B-C50C-407E-A947-70E740481C1C}">
                <a14:useLocalDpi xmlns:a14="http://schemas.microsoft.com/office/drawing/2010/main" val="0"/>
              </a:ext>
            </a:extLst>
          </a:blip>
          <a:srcRect t="17701" r="5781"/>
          <a:stretch>
            <a:fillRect/>
          </a:stretch>
        </p:blipFill>
        <p:spPr>
          <a:xfrm rot="10800000" flipH="1">
            <a:off x="0" y="-1"/>
            <a:ext cx="12192000" cy="6864096"/>
          </a:xfrm>
          <a:prstGeom prst="rect">
            <a:avLst/>
          </a:prstGeom>
        </p:spPr>
      </p:pic>
      <p:sp>
        <p:nvSpPr>
          <p:cNvPr id="9" name="Title 8">
            <a:extLst>
              <a:ext uri="{FF2B5EF4-FFF2-40B4-BE49-F238E27FC236}">
                <a16:creationId xmlns:a16="http://schemas.microsoft.com/office/drawing/2014/main" id="{E9DD887D-B316-418B-8AF4-4F941223A039}"/>
              </a:ext>
            </a:extLst>
          </p:cNvPr>
          <p:cNvSpPr>
            <a:spLocks noGrp="1"/>
          </p:cNvSpPr>
          <p:nvPr>
            <p:ph type="title"/>
          </p:nvPr>
        </p:nvSpPr>
        <p:spPr>
          <a:xfrm>
            <a:off x="7772400" y="5082379"/>
            <a:ext cx="4000500" cy="1169230"/>
          </a:xfrm>
        </p:spPr>
        <p:txBody>
          <a:bodyPr anchor="b">
            <a:normAutofit/>
          </a:bodyPr>
          <a:lstStyle>
            <a:lvl1pPr>
              <a:defRPr sz="2000" spc="-50" baseline="0"/>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a:xfrm>
            <a:off x="7772400" y="209088"/>
            <a:ext cx="1970690" cy="338328"/>
          </a:xfrm>
        </p:spPr>
        <p:txBody>
          <a:bodyPr/>
          <a:lstStyle>
            <a:lvl1pPr>
              <a:defRPr>
                <a:solidFill>
                  <a:schemeClr val="tx1"/>
                </a:solidFill>
              </a:defRPr>
            </a:lvl1pPr>
          </a:lstStyle>
          <a:p>
            <a:fld id="{5BCAD085-E8A6-8845-BD4E-CB4CCA059FC4}" type="datetimeFigureOut">
              <a:rPr lang="en-US" smtClean="0"/>
              <a:t>8/20/2026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
        <p:nvSpPr>
          <p:cNvPr id="12" name="Content Placeholder 11">
            <a:extLst>
              <a:ext uri="{FF2B5EF4-FFF2-40B4-BE49-F238E27FC236}">
                <a16:creationId xmlns:a16="http://schemas.microsoft.com/office/drawing/2014/main" id="{942D9118-C154-84FE-9D86-92525287F07F}"/>
              </a:ext>
            </a:extLst>
          </p:cNvPr>
          <p:cNvSpPr>
            <a:spLocks noGrp="1"/>
          </p:cNvSpPr>
          <p:nvPr>
            <p:ph sz="quarter" idx="14" hasCustomPrompt="1"/>
          </p:nvPr>
        </p:nvSpPr>
        <p:spPr>
          <a:xfrm>
            <a:off x="280988" y="1063625"/>
            <a:ext cx="10428287" cy="3508375"/>
          </a:xfrm>
        </p:spPr>
        <p:txBody>
          <a:bodyPr>
            <a:noAutofit/>
          </a:bodyPr>
          <a:lstStyle>
            <a:lvl1pPr>
              <a:lnSpc>
                <a:spcPct val="80000"/>
              </a:lnSpc>
              <a:defRPr sz="26000"/>
            </a:lvl1pPr>
          </a:lstStyle>
          <a:p>
            <a:pPr lvl="0"/>
            <a:r>
              <a:rPr lang="en-US" dirty="0"/>
              <a:t>XX%</a:t>
            </a:r>
          </a:p>
        </p:txBody>
      </p:sp>
    </p:spTree>
    <p:extLst>
      <p:ext uri="{BB962C8B-B14F-4D97-AF65-F5344CB8AC3E}">
        <p14:creationId xmlns:p14="http://schemas.microsoft.com/office/powerpoint/2010/main" val="5300739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pic>
        <p:nvPicPr>
          <p:cNvPr id="6" name="Picture 5" descr="A red and purple light&#10;&#10;AI-generated content may be incorrect.">
            <a:extLst>
              <a:ext uri="{FF2B5EF4-FFF2-40B4-BE49-F238E27FC236}">
                <a16:creationId xmlns:a16="http://schemas.microsoft.com/office/drawing/2014/main" id="{27A6C04A-3EE2-7293-8111-E4CF6B18B2D4}"/>
              </a:ext>
            </a:extLst>
          </p:cNvPr>
          <p:cNvPicPr>
            <a:picLocks noChangeAspect="1"/>
          </p:cNvPicPr>
          <p:nvPr/>
        </p:nvPicPr>
        <p:blipFill>
          <a:blip r:embed="rId2">
            <a:extLst>
              <a:ext uri="{28A0092B-C50C-407E-A947-70E740481C1C}">
                <a14:useLocalDpi xmlns:a14="http://schemas.microsoft.com/office/drawing/2010/main" val="0"/>
              </a:ext>
            </a:extLst>
          </a:blip>
          <a:srcRect l="7784" t="57458" r="22221" b="1"/>
          <a:stretch>
            <a:fillRect/>
          </a:stretch>
        </p:blipFill>
        <p:spPr>
          <a:xfrm rot="10800000">
            <a:off x="0" y="0"/>
            <a:ext cx="12192000" cy="4802819"/>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8/20/2026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19099" y="2885606"/>
            <a:ext cx="8801101" cy="3553293"/>
          </a:xfrm>
        </p:spPr>
        <p:txBody>
          <a:bodyPr anchor="b">
            <a:normAutofit/>
          </a:bodyPr>
          <a:lstStyle>
            <a:lvl1pPr marL="0" indent="0">
              <a:lnSpc>
                <a:spcPct val="85000"/>
              </a:lnSpc>
              <a:buNone/>
              <a:defRPr sz="6000" b="0" spc="-50" baseline="0">
                <a:solidFill>
                  <a:schemeClr val="tx1"/>
                </a:solidFill>
              </a:defRPr>
            </a:lvl1pPr>
            <a:lvl2pPr marL="228600" indent="0">
              <a:lnSpc>
                <a:spcPct val="85000"/>
              </a:lnSpc>
              <a:buNone/>
              <a:defRPr sz="4400" b="0" spc="-50" baseline="0">
                <a:solidFill>
                  <a:schemeClr val="tx1"/>
                </a:solidFill>
              </a:defRPr>
            </a:lvl2pPr>
            <a:lvl3pPr marL="457200" indent="0">
              <a:lnSpc>
                <a:spcPct val="85000"/>
              </a:lnSpc>
              <a:buNone/>
              <a:defRPr sz="4000" b="0" spc="-50" baseline="0">
                <a:solidFill>
                  <a:schemeClr val="tx1"/>
                </a:solidFill>
              </a:defRPr>
            </a:lvl3pPr>
            <a:lvl4pPr marL="685800" indent="0">
              <a:lnSpc>
                <a:spcPct val="85000"/>
              </a:lnSpc>
              <a:buNone/>
              <a:defRPr sz="3600" b="0" spc="-50" baseline="0">
                <a:solidFill>
                  <a:schemeClr val="tx1"/>
                </a:solidFill>
              </a:defRPr>
            </a:lvl4pPr>
            <a:lvl5pPr marL="914400" indent="0">
              <a:lnSpc>
                <a:spcPct val="85000"/>
              </a:lnSpc>
              <a:buNone/>
              <a:defRPr sz="3200" b="0" spc="-50" baseline="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574007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6" name="Picture 5" descr="A close up of a colorful background&#10;&#10;AI-generated content may be incorrect.">
            <a:extLst>
              <a:ext uri="{FF2B5EF4-FFF2-40B4-BE49-F238E27FC236}">
                <a16:creationId xmlns:a16="http://schemas.microsoft.com/office/drawing/2014/main" id="{56ABB8EC-1098-DCAC-E2E3-BCA53EEC625D}"/>
              </a:ext>
            </a:extLst>
          </p:cNvPr>
          <p:cNvPicPr>
            <a:picLocks noChangeAspect="1"/>
          </p:cNvPicPr>
          <p:nvPr/>
        </p:nvPicPr>
        <p:blipFill>
          <a:blip r:embed="rId2">
            <a:extLst>
              <a:ext uri="{28A0092B-C50C-407E-A947-70E740481C1C}">
                <a14:useLocalDpi xmlns:a14="http://schemas.microsoft.com/office/drawing/2010/main" val="0"/>
              </a:ext>
            </a:extLst>
          </a:blip>
          <a:srcRect l="1291" t="22024" r="10011"/>
          <a:stretch>
            <a:fillRect/>
          </a:stretch>
        </p:blipFill>
        <p:spPr>
          <a:xfrm rot="10800000" flipH="1">
            <a:off x="0" y="0"/>
            <a:ext cx="12192000" cy="6864096"/>
          </a:xfrm>
          <a:prstGeom prst="rect">
            <a:avLst/>
          </a:prstGeom>
        </p:spPr>
      </p:pic>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866899" y="4874218"/>
            <a:ext cx="8506567" cy="666427"/>
          </a:xfrm>
        </p:spPr>
        <p:txBody>
          <a:bodyPr anchor="ctr">
            <a:normAutofit/>
          </a:bodyPr>
          <a:lstStyle>
            <a:lvl1pPr algn="r">
              <a:lnSpc>
                <a:spcPct val="90000"/>
              </a:lnSpc>
              <a:defRPr sz="1400" b="0" cap="all" spc="100" baseline="0">
                <a:solidFill>
                  <a:schemeClr val="tx1"/>
                </a:solidFill>
              </a:defRPr>
            </a:lvl1pPr>
          </a:lstStyle>
          <a:p>
            <a:r>
              <a:rPr lang="en-US" dirty="0"/>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8/20/2026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866899" y="1856096"/>
            <a:ext cx="8506567" cy="2855388"/>
          </a:xfrm>
        </p:spPr>
        <p:txBody>
          <a:bodyPr anchor="ctr">
            <a:normAutofit/>
          </a:bodyPr>
          <a:lstStyle>
            <a:lvl1pPr marL="164592" indent="-164592">
              <a:lnSpc>
                <a:spcPct val="90000"/>
              </a:lnSpc>
              <a:spcBef>
                <a:spcPts val="0"/>
              </a:spcBef>
              <a:buFont typeface="Arial" panose="020B0604020202020204" pitchFamily="34" charset="0"/>
              <a:buNone/>
              <a:defRPr sz="5000" spc="-50" baseline="0">
                <a:solidFill>
                  <a:schemeClr val="tx1"/>
                </a:solidFill>
              </a:defRPr>
            </a:lvl1pPr>
          </a:lstStyle>
          <a:p>
            <a:pPr lvl="0"/>
            <a:r>
              <a:rPr lang="en-US" dirty="0"/>
              <a:t>Click to add Quote</a:t>
            </a:r>
          </a:p>
        </p:txBody>
      </p:sp>
    </p:spTree>
    <p:extLst>
      <p:ext uri="{BB962C8B-B14F-4D97-AF65-F5344CB8AC3E}">
        <p14:creationId xmlns:p14="http://schemas.microsoft.com/office/powerpoint/2010/main" val="374752931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8382000" cy="701657"/>
          </a:xfrm>
        </p:spPr>
        <p:txBody>
          <a:bodyPr/>
          <a:lstStyle>
            <a:lvl1pPr>
              <a:defRPr>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8/20/2026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
        <p:nvSpPr>
          <p:cNvPr id="4" name="Content Placeholder 3">
            <a:extLst>
              <a:ext uri="{FF2B5EF4-FFF2-40B4-BE49-F238E27FC236}">
                <a16:creationId xmlns:a16="http://schemas.microsoft.com/office/drawing/2014/main" id="{704CA46A-141E-21AB-51BA-BA1F0F395708}"/>
              </a:ext>
            </a:extLst>
          </p:cNvPr>
          <p:cNvSpPr>
            <a:spLocks noGrp="1"/>
          </p:cNvSpPr>
          <p:nvPr>
            <p:ph sz="quarter" idx="15"/>
          </p:nvPr>
        </p:nvSpPr>
        <p:spPr>
          <a:xfrm>
            <a:off x="431800" y="1900238"/>
            <a:ext cx="4924425" cy="43481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F8607D36-7013-02AC-69A9-8D38C5BBA7D0}"/>
              </a:ext>
            </a:extLst>
          </p:cNvPr>
          <p:cNvSpPr>
            <a:spLocks noGrp="1"/>
          </p:cNvSpPr>
          <p:nvPr>
            <p:ph sz="quarter" idx="16"/>
          </p:nvPr>
        </p:nvSpPr>
        <p:spPr>
          <a:xfrm>
            <a:off x="5878824" y="1900238"/>
            <a:ext cx="4924425" cy="43481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207662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18655" y="932098"/>
            <a:ext cx="10835539" cy="704088"/>
          </a:xfrm>
        </p:spPr>
        <p:txBody>
          <a:bodyPr/>
          <a:lstStyle>
            <a:lvl1pPr>
              <a:defRPr>
                <a:solidFill>
                  <a:schemeClr val="tx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8801100" y="214858"/>
            <a:ext cx="1920240" cy="338328"/>
          </a:xfrm>
        </p:spPr>
        <p:txBody>
          <a:bodyPr/>
          <a:lstStyle>
            <a:lvl1pPr>
              <a:defRPr>
                <a:solidFill>
                  <a:schemeClr val="tx1"/>
                </a:solidFill>
              </a:defRPr>
            </a:lvl1pPr>
          </a:lstStyle>
          <a:p>
            <a:fld id="{5BCAD085-E8A6-8845-BD4E-CB4CCA059FC4}" type="datetimeFigureOut">
              <a:rPr lang="en-US" smtClean="0"/>
              <a:t>8/20/2026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18654" y="1675614"/>
            <a:ext cx="4913919" cy="559834"/>
          </a:xfrm>
        </p:spPr>
        <p:txBody>
          <a:bodyPr anchor="b">
            <a:normAutofit/>
          </a:bodyPr>
          <a:lstStyle>
            <a:lvl1pPr marL="0" indent="0">
              <a:lnSpc>
                <a:spcPct val="90000"/>
              </a:lnSpc>
              <a:buNone/>
              <a:defRPr sz="16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854769-C5D8-1BF0-C3A2-77216D6255DB}"/>
              </a:ext>
            </a:extLst>
          </p:cNvPr>
          <p:cNvSpPr>
            <a:spLocks noGrp="1"/>
          </p:cNvSpPr>
          <p:nvPr>
            <p:ph sz="quarter" idx="15"/>
          </p:nvPr>
        </p:nvSpPr>
        <p:spPr>
          <a:xfrm>
            <a:off x="431800" y="2285022"/>
            <a:ext cx="4900773" cy="39633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6500" y="1675614"/>
            <a:ext cx="4967694" cy="559834"/>
          </a:xfrm>
        </p:spPr>
        <p:txBody>
          <a:bodyPr anchor="b">
            <a:normAutofit/>
          </a:bodyPr>
          <a:lstStyle>
            <a:lvl1pPr marL="0" indent="0">
              <a:lnSpc>
                <a:spcPct val="90000"/>
              </a:lnSpc>
              <a:buNone/>
              <a:defRPr sz="16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B3527224-4234-3620-766D-DCCA3AFDF896}"/>
              </a:ext>
            </a:extLst>
          </p:cNvPr>
          <p:cNvSpPr>
            <a:spLocks noGrp="1"/>
          </p:cNvSpPr>
          <p:nvPr>
            <p:ph sz="quarter" idx="16"/>
          </p:nvPr>
        </p:nvSpPr>
        <p:spPr>
          <a:xfrm>
            <a:off x="6279401" y="2285022"/>
            <a:ext cx="4982762" cy="39633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20784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20791" y="1113510"/>
            <a:ext cx="8380309" cy="876193"/>
          </a:xfrm>
        </p:spPr>
        <p:txBody>
          <a:bodyPr/>
          <a:lstStyle>
            <a:lvl1pPr>
              <a:defRPr>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8/20/2026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46515350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8/20/2026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82745227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pic>
        <p:nvPicPr>
          <p:cNvPr id="7" name="Picture 6" descr="A red and purple light&#10;&#10;AI-generated content may be incorrect.">
            <a:extLst>
              <a:ext uri="{FF2B5EF4-FFF2-40B4-BE49-F238E27FC236}">
                <a16:creationId xmlns:a16="http://schemas.microsoft.com/office/drawing/2014/main" id="{CC69B319-31FA-514C-5A82-30B4D1B20A23}"/>
              </a:ext>
            </a:extLst>
          </p:cNvPr>
          <p:cNvPicPr>
            <a:picLocks noChangeAspect="1"/>
          </p:cNvPicPr>
          <p:nvPr/>
        </p:nvPicPr>
        <p:blipFill>
          <a:blip r:embed="rId2">
            <a:extLst>
              <a:ext uri="{28A0092B-C50C-407E-A947-70E740481C1C}">
                <a14:useLocalDpi xmlns:a14="http://schemas.microsoft.com/office/drawing/2010/main" val="0"/>
              </a:ext>
            </a:extLst>
          </a:blip>
          <a:srcRect r="7892"/>
          <a:stretch>
            <a:fillRect/>
          </a:stretch>
        </p:blipFill>
        <p:spPr>
          <a:xfrm flipH="1">
            <a:off x="-1" y="0"/>
            <a:ext cx="12191999"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2393" y="758952"/>
            <a:ext cx="7609668" cy="1734866"/>
          </a:xfrm>
        </p:spPr>
        <p:txBody>
          <a:bodyPr anchor="t">
            <a:noAutofit/>
          </a:bodyPr>
          <a:lstStyle>
            <a:lvl1pPr>
              <a:defRPr sz="7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8/20/2026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19100" y="2705101"/>
            <a:ext cx="8801100" cy="2947550"/>
          </a:xfrm>
        </p:spPr>
        <p:txBody>
          <a:bodyPr vert="horz" lIns="91440" tIns="45720" rIns="91440" bIns="45720" rtlCol="0">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6305057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pic>
        <p:nvPicPr>
          <p:cNvPr id="3" name="Picture 2" descr="A red and purple light&#10;&#10;AI-generated content may be incorrect.">
            <a:extLst>
              <a:ext uri="{FF2B5EF4-FFF2-40B4-BE49-F238E27FC236}">
                <a16:creationId xmlns:a16="http://schemas.microsoft.com/office/drawing/2014/main" id="{86565871-9318-EC0D-5245-A159818CA83F}"/>
              </a:ext>
            </a:extLst>
          </p:cNvPr>
          <p:cNvPicPr>
            <a:picLocks noChangeAspect="1"/>
          </p:cNvPicPr>
          <p:nvPr/>
        </p:nvPicPr>
        <p:blipFill>
          <a:blip r:embed="rId2">
            <a:extLst>
              <a:ext uri="{28A0092B-C50C-407E-A947-70E740481C1C}">
                <a14:useLocalDpi xmlns:a14="http://schemas.microsoft.com/office/drawing/2010/main" val="0"/>
              </a:ext>
            </a:extLst>
          </a:blip>
          <a:srcRect r="7892"/>
          <a:stretch>
            <a:fillRect/>
          </a:stretch>
        </p:blipFill>
        <p:spPr>
          <a:xfrm flipH="1">
            <a:off x="-1" y="0"/>
            <a:ext cx="12191999" cy="6858000"/>
          </a:xfrm>
          <a:prstGeom prst="rect">
            <a:avLst/>
          </a:prstGeom>
        </p:spPr>
      </p:pic>
      <p:sp>
        <p:nvSpPr>
          <p:cNvPr id="9" name="Title 8">
            <a:extLst>
              <a:ext uri="{FF2B5EF4-FFF2-40B4-BE49-F238E27FC236}">
                <a16:creationId xmlns:a16="http://schemas.microsoft.com/office/drawing/2014/main" id="{687F1B09-5020-D2DD-189E-7226AD232923}"/>
              </a:ext>
            </a:extLst>
          </p:cNvPr>
          <p:cNvSpPr>
            <a:spLocks noGrp="1"/>
          </p:cNvSpPr>
          <p:nvPr>
            <p:ph type="title"/>
          </p:nvPr>
        </p:nvSpPr>
        <p:spPr>
          <a:xfrm>
            <a:off x="420792" y="2704772"/>
            <a:ext cx="5465660" cy="2733384"/>
          </a:xfrm>
        </p:spPr>
        <p:txBody>
          <a:bodyPr/>
          <a:lstStyle>
            <a:lvl1pPr>
              <a:defRPr sz="72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8/20/2026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
        <p:nvSpPr>
          <p:cNvPr id="12" name="Content Placeholder 11">
            <a:extLst>
              <a:ext uri="{FF2B5EF4-FFF2-40B4-BE49-F238E27FC236}">
                <a16:creationId xmlns:a16="http://schemas.microsoft.com/office/drawing/2014/main" id="{8492B719-9068-0A96-E408-4EB3E9F85BE9}"/>
              </a:ext>
            </a:extLst>
          </p:cNvPr>
          <p:cNvSpPr>
            <a:spLocks noGrp="1"/>
          </p:cNvSpPr>
          <p:nvPr>
            <p:ph sz="quarter" idx="15"/>
          </p:nvPr>
        </p:nvSpPr>
        <p:spPr>
          <a:xfrm>
            <a:off x="6305550" y="2705100"/>
            <a:ext cx="4410075" cy="15621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010441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20791" y="1113510"/>
            <a:ext cx="9942409" cy="876193"/>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29417" y="2133600"/>
            <a:ext cx="9942409" cy="4305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432393" y="214858"/>
            <a:ext cx="2726376" cy="338328"/>
          </a:xfrm>
          <a:prstGeom prst="rect">
            <a:avLst/>
          </a:prstGeom>
        </p:spPr>
        <p:txBody>
          <a:bodyPr vert="horz" lIns="91440" tIns="45720" rIns="91440" bIns="45720" rtlCol="0" anchor="ctr"/>
          <a:lstStyle>
            <a:lvl1pPr algn="l" rtl="0">
              <a:defRPr sz="700" cap="all" baseline="0">
                <a:solidFill>
                  <a:schemeClr val="tx1"/>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01100" y="214858"/>
            <a:ext cx="1920240" cy="338328"/>
          </a:xfrm>
          <a:prstGeom prst="rect">
            <a:avLst/>
          </a:prstGeom>
        </p:spPr>
        <p:txBody>
          <a:bodyPr vert="horz" lIns="91440" tIns="45720" rIns="91440" bIns="45720" rtlCol="0" anchor="ctr"/>
          <a:lstStyle>
            <a:lvl1pPr algn="l" rtl="0">
              <a:defRPr sz="700" cap="all" baseline="0">
                <a:solidFill>
                  <a:schemeClr val="tx1"/>
                </a:solidFill>
              </a:defRPr>
            </a:lvl1pPr>
          </a:lstStyle>
          <a:p>
            <a:fld id="{5BCAD085-E8A6-8845-BD4E-CB4CCA059FC4}" type="datetimeFigureOut">
              <a:rPr lang="en-US" smtClean="0"/>
              <a:t>8/20/2026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291657" y="214858"/>
            <a:ext cx="555948" cy="338328"/>
          </a:xfrm>
          <a:prstGeom prst="rect">
            <a:avLst/>
          </a:prstGeom>
        </p:spPr>
        <p:txBody>
          <a:bodyPr vert="horz" lIns="91440" tIns="45720" rIns="91440" bIns="45720" rtlCol="0" anchor="ctr"/>
          <a:lstStyle>
            <a:lvl1pPr algn="r" rtl="0">
              <a:defRPr sz="700" cap="all" baseline="0">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583676790"/>
      </p:ext>
    </p:extLst>
  </p:cSld>
  <p:clrMap bg1="dk1" tx1="lt1" bg2="dk2" tx2="lt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 id="2147483852" r:id="rId12"/>
    <p:sldLayoutId id="2147483853" r:id="rId13"/>
    <p:sldLayoutId id="2147483854" r:id="rId14"/>
    <p:sldLayoutId id="2147483855" r:id="rId15"/>
    <p:sldLayoutId id="2147483856" r:id="rId16"/>
    <p:sldLayoutId id="2147483857" r:id="rId17"/>
    <p:sldLayoutId id="2147483858" r:id="rId18"/>
    <p:sldLayoutId id="2147483859" r:id="rId19"/>
    <p:sldLayoutId id="2147483860" r:id="rId20"/>
    <p:sldLayoutId id="2147483861" r:id="rId21"/>
    <p:sldLayoutId id="2147483862" r:id="rId22"/>
    <p:sldLayoutId id="2147483863" r:id="rId23"/>
    <p:sldLayoutId id="2147483864" r:id="rId24"/>
    <p:sldLayoutId id="2147483865" r:id="rId25"/>
    <p:sldLayoutId id="2147483866" r:id="rId26"/>
    <p:sldLayoutId id="2147483867" r:id="rId27"/>
  </p:sldLayoutIdLst>
  <p:txStyles>
    <p:titleStyle>
      <a:lvl1pPr algn="l" defTabSz="914400" rtl="0" eaLnBrk="1" latinLnBrk="0" hangingPunct="1">
        <a:lnSpc>
          <a:spcPct val="85000"/>
        </a:lnSpc>
        <a:spcBef>
          <a:spcPct val="0"/>
        </a:spcBef>
        <a:buNone/>
        <a:defRPr sz="3000" b="0" kern="1200" spc="-11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64">
          <p15:clr>
            <a:srgbClr val="F26B43"/>
          </p15:clr>
        </p15:guide>
        <p15:guide id="4" orient="horz" pos="264">
          <p15:clr>
            <a:srgbClr val="F26B43"/>
          </p15:clr>
        </p15:guide>
        <p15:guide id="5" pos="7416">
          <p15:clr>
            <a:srgbClr val="F26B43"/>
          </p15:clr>
        </p15:guide>
        <p15:guide id="12" pos="4632">
          <p15:clr>
            <a:srgbClr val="F26B43"/>
          </p15:clr>
        </p15:guide>
        <p15:guide id="13" pos="5544">
          <p15:clr>
            <a:srgbClr val="F26B43"/>
          </p15:clr>
        </p15:guide>
        <p15:guide id="26" pos="2784">
          <p15:clr>
            <a:srgbClr val="F26B43"/>
          </p15:clr>
        </p15:guide>
        <p15:guide id="27" pos="3048">
          <p15:clr>
            <a:srgbClr val="F26B43"/>
          </p15:clr>
        </p15:guide>
        <p15:guide id="29" pos="3960">
          <p15:clr>
            <a:srgbClr val="F26B43"/>
          </p15:clr>
        </p15:guide>
        <p15:guide id="30" pos="1176">
          <p15:clr>
            <a:srgbClr val="F26B43"/>
          </p15:clr>
        </p15:guide>
        <p15:guide id="31" pos="912">
          <p15:clr>
            <a:srgbClr val="F26B43"/>
          </p15:clr>
        </p15:guide>
        <p15:guide id="32" pos="3696">
          <p15:clr>
            <a:srgbClr val="F26B43"/>
          </p15:clr>
        </p15:guide>
        <p15:guide id="33" pos="1848">
          <p15:clr>
            <a:srgbClr val="F26B43"/>
          </p15:clr>
        </p15:guide>
        <p15:guide id="34" pos="2112">
          <p15:clr>
            <a:srgbClr val="F26B43"/>
          </p15:clr>
        </p15:guide>
        <p15:guide id="36" pos="6528">
          <p15:clr>
            <a:srgbClr val="F26B43"/>
          </p15:clr>
        </p15:guide>
        <p15:guide id="37" pos="6744">
          <p15:clr>
            <a:srgbClr val="F26B43"/>
          </p15:clr>
        </p15:guide>
        <p15:guide id="42" orient="horz" pos="393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0.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320040" cy="68580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005840"/>
            <a:ext cx="10058400" cy="2369880"/>
          </a:xfrm>
          <a:prstGeom prst="rect">
            <a:avLst/>
          </a:prstGeom>
          <a:noFill/>
        </p:spPr>
        <p:txBody>
          <a:bodyPr wrap="square">
            <a:spAutoFit/>
          </a:bodyPr>
          <a:lstStyle/>
          <a:p>
            <a:pPr>
              <a:defRPr sz="1200" b="1">
                <a:solidFill>
                  <a:srgbClr val="06B6D4"/>
                </a:solidFill>
              </a:defRPr>
            </a:pPr>
            <a:endParaRPr dirty="0"/>
          </a:p>
          <a:p>
            <a:pPr>
              <a:defRPr sz="4000" b="1">
                <a:solidFill>
                  <a:srgbClr val="FFFFFF"/>
                </a:solidFill>
                <a:latin typeface="Segoe UI"/>
              </a:defRPr>
            </a:pPr>
            <a:r>
              <a:rPr dirty="0"/>
              <a:t>CAMPUS CONNECT</a:t>
            </a:r>
            <a:r>
              <a:rPr lang="en-IN" dirty="0"/>
              <a:t>-</a:t>
            </a:r>
          </a:p>
          <a:p>
            <a:pPr>
              <a:defRPr sz="4000" b="1">
                <a:solidFill>
                  <a:srgbClr val="FFFFFF"/>
                </a:solidFill>
                <a:latin typeface="Segoe UI"/>
              </a:defRPr>
            </a:pPr>
            <a:r>
              <a:rPr lang="en-IN" dirty="0"/>
              <a:t>A Centralized Problem Reporting and Resolution Portal</a:t>
            </a:r>
            <a:endParaRPr dirty="0"/>
          </a:p>
          <a:p>
            <a:pPr>
              <a:defRPr sz="1300">
                <a:solidFill>
                  <a:srgbClr val="E2E8F0"/>
                </a:solidFill>
              </a:defRPr>
            </a:pPr>
            <a:r>
              <a:rPr sz="1600" dirty="0"/>
              <a:t>“Smart Campus Issue Reporting, Automated Departmental Dispatch &amp; Verified Maintenance System”</a:t>
            </a:r>
            <a:endParaRPr lang="en-IN" sz="1600" dirty="0"/>
          </a:p>
        </p:txBody>
      </p:sp>
      <p:sp>
        <p:nvSpPr>
          <p:cNvPr id="5" name="Rounded Rectangle 4"/>
          <p:cNvSpPr/>
          <p:nvPr/>
        </p:nvSpPr>
        <p:spPr>
          <a:xfrm>
            <a:off x="1097280" y="4663440"/>
            <a:ext cx="9875520" cy="1554480"/>
          </a:xfrm>
          <a:prstGeom prst="roundRect">
            <a:avLst/>
          </a:prstGeom>
          <a:solidFill>
            <a:srgbClr val="131D36"/>
          </a:solidFill>
          <a:ln>
            <a:solidFill>
              <a:srgbClr val="27355A"/>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defRPr sz="1100" b="1">
                <a:solidFill>
                  <a:srgbClr val="06B6D4"/>
                </a:solidFill>
              </a:defRPr>
            </a:pPr>
            <a:r>
              <a:rPr lang="en-IN" sz="1600" dirty="0">
                <a:solidFill>
                  <a:schemeClr val="tx1">
                    <a:lumMod val="95000"/>
                  </a:schemeClr>
                </a:solidFill>
              </a:rPr>
              <a:t>TEAM MEMBERS: </a:t>
            </a:r>
          </a:p>
          <a:p>
            <a:pPr>
              <a:defRPr sz="1100" b="1">
                <a:solidFill>
                  <a:srgbClr val="06B6D4"/>
                </a:solidFill>
              </a:defRPr>
            </a:pPr>
            <a:r>
              <a:rPr lang="en-IN" sz="1600" dirty="0">
                <a:solidFill>
                  <a:schemeClr val="tx1">
                    <a:lumMod val="95000"/>
                  </a:schemeClr>
                </a:solidFill>
              </a:rPr>
              <a:t>GUDKA SHUBH NEJUL (246250307034)</a:t>
            </a:r>
          </a:p>
          <a:p>
            <a:pPr>
              <a:defRPr sz="1100" b="1">
                <a:solidFill>
                  <a:srgbClr val="06B6D4"/>
                </a:solidFill>
              </a:defRPr>
            </a:pPr>
            <a:r>
              <a:rPr lang="en-IN" sz="1600" dirty="0">
                <a:solidFill>
                  <a:schemeClr val="tx1">
                    <a:lumMod val="95000"/>
                  </a:schemeClr>
                </a:solidFill>
              </a:rPr>
              <a:t>KATARMAL NIRAV PRADIPBHAI (246250307047) </a:t>
            </a:r>
          </a:p>
          <a:p>
            <a:pPr>
              <a:defRPr sz="1100" b="1">
                <a:solidFill>
                  <a:srgbClr val="06B6D4"/>
                </a:solidFill>
              </a:defRPr>
            </a:pPr>
            <a:r>
              <a:rPr lang="en-IN" sz="1600" dirty="0">
                <a:solidFill>
                  <a:schemeClr val="tx1">
                    <a:lumMod val="95000"/>
                  </a:schemeClr>
                </a:solidFill>
              </a:rPr>
              <a:t>KORADIA DEV GIRISHBHAI (246250307051)</a:t>
            </a:r>
          </a:p>
          <a:p>
            <a:pPr>
              <a:defRPr sz="1100" b="1">
                <a:solidFill>
                  <a:srgbClr val="06B6D4"/>
                </a:solidFill>
              </a:defRPr>
            </a:pPr>
            <a:r>
              <a:rPr lang="en-IN" sz="1600" dirty="0">
                <a:solidFill>
                  <a:schemeClr val="tx1">
                    <a:lumMod val="95000"/>
                  </a:schemeClr>
                </a:solidFill>
              </a:rPr>
              <a:t>MEHTA DARSHAN MEHULBHAI (246250307058)</a:t>
            </a:r>
            <a:endParaRPr sz="1600" dirty="0">
              <a:solidFill>
                <a:schemeClr val="tx1">
                  <a:lumMod val="95000"/>
                </a:schemeClr>
              </a:solidFill>
            </a:endParaRPr>
          </a:p>
        </p:txBody>
      </p:sp>
      <p:pic>
        <p:nvPicPr>
          <p:cNvPr id="6" name="Picture 5">
            <a:extLst>
              <a:ext uri="{FF2B5EF4-FFF2-40B4-BE49-F238E27FC236}">
                <a16:creationId xmlns:a16="http://schemas.microsoft.com/office/drawing/2014/main" id="{8E79EE8C-6060-0AB4-536A-C902305066CD}"/>
              </a:ext>
            </a:extLst>
          </p:cNvPr>
          <p:cNvPicPr>
            <a:picLocks noChangeAspect="1"/>
          </p:cNvPicPr>
          <p:nvPr/>
        </p:nvPicPr>
        <p:blipFill>
          <a:blip r:embed="rId3"/>
          <a:stretch>
            <a:fillRect/>
          </a:stretch>
        </p:blipFill>
        <p:spPr>
          <a:xfrm>
            <a:off x="9891252" y="216310"/>
            <a:ext cx="2041668" cy="161249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293950"/>
            <a:ext cx="10698480" cy="153888"/>
          </a:xfrm>
          <a:prstGeom prst="rect">
            <a:avLst/>
          </a:prstGeom>
          <a:noFill/>
        </p:spPr>
        <p:txBody>
          <a:bodyPr wrap="square" lIns="0" tIns="0" rIns="0" bIns="0">
            <a:spAutoFit/>
          </a:bodyPr>
          <a:lstStyle/>
          <a:p>
            <a:pPr>
              <a:defRPr sz="1000" b="1">
                <a:solidFill>
                  <a:srgbClr val="06B6D4"/>
                </a:solidFill>
                <a:latin typeface="Calibri"/>
              </a:defRPr>
            </a:pPr>
            <a:r>
              <a:rPr dirty="0"/>
              <a:t>CAMPUS CONNECT | </a:t>
            </a:r>
            <a:r>
              <a:rPr lang="en-IN" dirty="0"/>
              <a:t>MINOR PROJECT</a:t>
            </a:r>
            <a:endParaRPr dirty="0"/>
          </a:p>
        </p:txBody>
      </p:sp>
      <p:sp>
        <p:nvSpPr>
          <p:cNvPr id="4" name="TextBox 3"/>
          <p:cNvSpPr txBox="1"/>
          <p:nvPr/>
        </p:nvSpPr>
        <p:spPr>
          <a:xfrm>
            <a:off x="731520" y="594360"/>
            <a:ext cx="10698480" cy="548640"/>
          </a:xfrm>
          <a:prstGeom prst="rect">
            <a:avLst/>
          </a:prstGeom>
          <a:noFill/>
        </p:spPr>
        <p:txBody>
          <a:bodyPr wrap="square" lIns="0" tIns="0" rIns="0" bIns="0">
            <a:spAutoFit/>
          </a:bodyPr>
          <a:lstStyle/>
          <a:p>
            <a:pPr>
              <a:defRPr sz="2200" b="1">
                <a:solidFill>
                  <a:srgbClr val="FFFFFF"/>
                </a:solidFill>
                <a:latin typeface="Segoe UI"/>
              </a:defRPr>
            </a:pPr>
            <a:r>
              <a:t>Project Introduction: What is Campus Connect?</a:t>
            </a:r>
          </a:p>
        </p:txBody>
      </p:sp>
      <p:sp>
        <p:nvSpPr>
          <p:cNvPr id="5" name="Rectangle 4"/>
          <p:cNvSpPr/>
          <p:nvPr/>
        </p:nvSpPr>
        <p:spPr>
          <a:xfrm>
            <a:off x="731520" y="1188720"/>
            <a:ext cx="2011680" cy="36576"/>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5120640" cy="2148840"/>
          </a:xfrm>
          <a:prstGeom prst="roundRect">
            <a:avLst/>
          </a:prstGeom>
          <a:solidFill>
            <a:srgbClr val="131D36"/>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645920"/>
            <a:ext cx="4663440" cy="1302921"/>
          </a:xfrm>
          <a:prstGeom prst="rect">
            <a:avLst/>
          </a:prstGeom>
          <a:noFill/>
        </p:spPr>
        <p:txBody>
          <a:bodyPr wrap="square">
            <a:spAutoFit/>
          </a:bodyPr>
          <a:lstStyle/>
          <a:p>
            <a:pPr>
              <a:spcAft>
                <a:spcPts val="800"/>
              </a:spcAft>
              <a:defRPr sz="1400" b="1">
                <a:solidFill>
                  <a:srgbClr val="2563EB"/>
                </a:solidFill>
              </a:defRPr>
            </a:pPr>
            <a:r>
              <a:rPr sz="1600" dirty="0"/>
              <a:t>What is Campus Connect?</a:t>
            </a:r>
          </a:p>
          <a:p>
            <a:pPr>
              <a:defRPr sz="1150">
                <a:solidFill>
                  <a:srgbClr val="E2E8F0"/>
                </a:solidFill>
              </a:defRPr>
            </a:pPr>
            <a:r>
              <a:rPr sz="1400" dirty="0"/>
              <a:t>An institutional grievance and infrastructure maintenance web application that provides a structured, automated framework to report, assign, track, and resolve campus issues.</a:t>
            </a:r>
          </a:p>
        </p:txBody>
      </p:sp>
      <p:sp>
        <p:nvSpPr>
          <p:cNvPr id="8" name="Rounded Rectangle 7"/>
          <p:cNvSpPr/>
          <p:nvPr/>
        </p:nvSpPr>
        <p:spPr>
          <a:xfrm>
            <a:off x="6126480" y="1463040"/>
            <a:ext cx="5120640" cy="2148840"/>
          </a:xfrm>
          <a:prstGeom prst="roundRect">
            <a:avLst/>
          </a:prstGeom>
          <a:solidFill>
            <a:srgbClr val="131D36"/>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55080" y="1645920"/>
            <a:ext cx="4663440" cy="1302921"/>
          </a:xfrm>
          <a:prstGeom prst="rect">
            <a:avLst/>
          </a:prstGeom>
          <a:noFill/>
        </p:spPr>
        <p:txBody>
          <a:bodyPr wrap="square">
            <a:spAutoFit/>
          </a:bodyPr>
          <a:lstStyle/>
          <a:p>
            <a:pPr>
              <a:spcAft>
                <a:spcPts val="800"/>
              </a:spcAft>
              <a:defRPr sz="1400" b="1">
                <a:solidFill>
                  <a:srgbClr val="7C3AED"/>
                </a:solidFill>
              </a:defRPr>
            </a:pPr>
            <a:r>
              <a:rPr sz="1600" dirty="0"/>
              <a:t>Why Was It Developed?</a:t>
            </a:r>
          </a:p>
          <a:p>
            <a:pPr>
              <a:defRPr sz="1150">
                <a:solidFill>
                  <a:srgbClr val="E2E8F0"/>
                </a:solidFill>
              </a:defRPr>
            </a:pPr>
            <a:r>
              <a:rPr sz="1400" dirty="0"/>
              <a:t>To eliminate delayed campus repairs, lost paper complaint books, lack of technician accountability, and communication breakdowns between students and faculty.</a:t>
            </a:r>
          </a:p>
        </p:txBody>
      </p:sp>
      <p:sp>
        <p:nvSpPr>
          <p:cNvPr id="10" name="Rounded Rectangle 9"/>
          <p:cNvSpPr/>
          <p:nvPr/>
        </p:nvSpPr>
        <p:spPr>
          <a:xfrm>
            <a:off x="652862" y="3966721"/>
            <a:ext cx="5120640" cy="2148840"/>
          </a:xfrm>
          <a:prstGeom prst="roundRect">
            <a:avLst/>
          </a:prstGeom>
          <a:solidFill>
            <a:srgbClr val="131D36"/>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20" y="4069080"/>
            <a:ext cx="4663440" cy="1426031"/>
          </a:xfrm>
          <a:prstGeom prst="rect">
            <a:avLst/>
          </a:prstGeom>
          <a:noFill/>
        </p:spPr>
        <p:txBody>
          <a:bodyPr wrap="square">
            <a:spAutoFit/>
          </a:bodyPr>
          <a:lstStyle/>
          <a:p>
            <a:pPr>
              <a:spcAft>
                <a:spcPts val="800"/>
              </a:spcAft>
              <a:defRPr sz="1400" b="1">
                <a:solidFill>
                  <a:srgbClr val="06B6D4"/>
                </a:solidFill>
              </a:defRPr>
            </a:pPr>
            <a:r>
              <a:rPr sz="1600" dirty="0"/>
              <a:t>What Problem Does It Solve?</a:t>
            </a:r>
          </a:p>
          <a:p>
            <a:pPr>
              <a:defRPr sz="1150">
                <a:solidFill>
                  <a:srgbClr val="E2E8F0"/>
                </a:solidFill>
              </a:defRPr>
            </a:pPr>
            <a:r>
              <a:rPr sz="1600" dirty="0"/>
              <a:t>Replaces unorganized reporting with an automated 5-stage closed-loop workflow: Student → Admin Dispatch → Technician Repair → Faculty QA → Resolution.</a:t>
            </a:r>
          </a:p>
        </p:txBody>
      </p:sp>
      <p:sp>
        <p:nvSpPr>
          <p:cNvPr id="12" name="Rounded Rectangle 11"/>
          <p:cNvSpPr/>
          <p:nvPr/>
        </p:nvSpPr>
        <p:spPr>
          <a:xfrm>
            <a:off x="6126480" y="3886200"/>
            <a:ext cx="5120640" cy="2148840"/>
          </a:xfrm>
          <a:prstGeom prst="roundRect">
            <a:avLst/>
          </a:prstGeom>
          <a:solidFill>
            <a:srgbClr val="131D3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55080" y="4069080"/>
            <a:ext cx="4663440" cy="1056700"/>
          </a:xfrm>
          <a:prstGeom prst="rect">
            <a:avLst/>
          </a:prstGeom>
          <a:noFill/>
        </p:spPr>
        <p:txBody>
          <a:bodyPr wrap="square">
            <a:spAutoFit/>
          </a:bodyPr>
          <a:lstStyle/>
          <a:p>
            <a:pPr>
              <a:spcAft>
                <a:spcPts val="800"/>
              </a:spcAft>
              <a:defRPr sz="1400" b="1">
                <a:solidFill>
                  <a:srgbClr val="10B981"/>
                </a:solidFill>
              </a:defRPr>
            </a:pPr>
            <a:r>
              <a:rPr dirty="0"/>
              <a:t>Multi-Role Collaboration</a:t>
            </a:r>
          </a:p>
          <a:p>
            <a:pPr>
              <a:defRPr sz="1150">
                <a:solidFill>
                  <a:srgbClr val="E2E8F0"/>
                </a:solidFill>
              </a:defRPr>
            </a:pPr>
            <a:r>
              <a:rPr sz="1400" dirty="0"/>
              <a:t>Provides tailored dashboards for Students, Administrators, Specialized Technicians, and Department Faculty Advisors with real-time tracking.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20040"/>
            <a:ext cx="10698480" cy="274320"/>
          </a:xfrm>
          <a:prstGeom prst="rect">
            <a:avLst/>
          </a:prstGeom>
          <a:noFill/>
        </p:spPr>
        <p:txBody>
          <a:bodyPr wrap="square" lIns="0" tIns="0" rIns="0" bIns="0">
            <a:spAutoFit/>
          </a:bodyPr>
          <a:lstStyle/>
          <a:p>
            <a:pPr>
              <a:defRPr sz="1000" b="1">
                <a:solidFill>
                  <a:srgbClr val="06B6D4"/>
                </a:solidFill>
                <a:latin typeface="Calibri"/>
              </a:defRPr>
            </a:pPr>
            <a:r>
              <a:t>CAMPUS CONNECT | WEB ENGINEERING PROJECT</a:t>
            </a:r>
          </a:p>
        </p:txBody>
      </p:sp>
      <p:sp>
        <p:nvSpPr>
          <p:cNvPr id="4" name="TextBox 3"/>
          <p:cNvSpPr txBox="1"/>
          <p:nvPr/>
        </p:nvSpPr>
        <p:spPr>
          <a:xfrm>
            <a:off x="731520" y="594360"/>
            <a:ext cx="10698480" cy="548640"/>
          </a:xfrm>
          <a:prstGeom prst="rect">
            <a:avLst/>
          </a:prstGeom>
          <a:noFill/>
        </p:spPr>
        <p:txBody>
          <a:bodyPr wrap="square" lIns="0" tIns="0" rIns="0" bIns="0">
            <a:spAutoFit/>
          </a:bodyPr>
          <a:lstStyle/>
          <a:p>
            <a:pPr>
              <a:defRPr sz="2200" b="1">
                <a:solidFill>
                  <a:srgbClr val="FFFFFF"/>
                </a:solidFill>
                <a:latin typeface="Segoe UI"/>
              </a:defRPr>
            </a:pPr>
            <a:r>
              <a:t>Problem Statement: Traditional vs. Campus Connect</a:t>
            </a:r>
          </a:p>
        </p:txBody>
      </p:sp>
      <p:sp>
        <p:nvSpPr>
          <p:cNvPr id="5" name="Rectangle 4"/>
          <p:cNvSpPr/>
          <p:nvPr/>
        </p:nvSpPr>
        <p:spPr>
          <a:xfrm>
            <a:off x="731520" y="1188720"/>
            <a:ext cx="2011680" cy="36576"/>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5120640" cy="4846320"/>
          </a:xfrm>
          <a:prstGeom prst="roundRect">
            <a:avLst/>
          </a:prstGeom>
          <a:solidFill>
            <a:srgbClr val="131D36"/>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wrap="square" lIns="274320" tIns="274320" rtlCol="0" anchor="ctr"/>
          <a:lstStyle/>
          <a:p>
            <a:pPr algn="ctr">
              <a:spcAft>
                <a:spcPts val="1000"/>
              </a:spcAft>
              <a:defRPr sz="1300" b="1">
                <a:solidFill>
                  <a:srgbClr val="EF4444"/>
                </a:solidFill>
              </a:defRPr>
            </a:pPr>
            <a:r>
              <a:t>TRADITIONAL CAMPUS COMPLAINT SYSTEM</a:t>
            </a:r>
          </a:p>
          <a:p>
            <a:pPr>
              <a:defRPr sz="1150" b="1">
                <a:solidFill>
                  <a:srgbClr val="F59E0B"/>
                </a:solidFill>
              </a:defRPr>
            </a:pPr>
            <a:r>
              <a:t>✖ Unorganized Channels</a:t>
            </a:r>
          </a:p>
          <a:p>
            <a:pPr>
              <a:spcAft>
                <a:spcPts val="600"/>
              </a:spcAft>
              <a:defRPr sz="1050">
                <a:solidFill>
                  <a:srgbClr val="94A3B8"/>
                </a:solidFill>
              </a:defRPr>
            </a:pPr>
            <a:r>
              <a:t>Complaints made verbally or written in paper logbooks that easily get misplaced.</a:t>
            </a:r>
          </a:p>
          <a:p>
            <a:pPr>
              <a:defRPr sz="1150" b="1">
                <a:solidFill>
                  <a:srgbClr val="F59E0B"/>
                </a:solidFill>
              </a:defRPr>
            </a:pPr>
            <a:r>
              <a:t>✖ Zero Live Tracking</a:t>
            </a:r>
          </a:p>
          <a:p>
            <a:pPr>
              <a:spcAft>
                <a:spcPts val="600"/>
              </a:spcAft>
              <a:defRPr sz="1050">
                <a:solidFill>
                  <a:srgbClr val="94A3B8"/>
                </a:solidFill>
              </a:defRPr>
            </a:pPr>
            <a:r>
              <a:t>Students have no visibility on whether an issue is seen, assigned, or pending.</a:t>
            </a:r>
          </a:p>
          <a:p>
            <a:pPr>
              <a:defRPr sz="1150" b="1">
                <a:solidFill>
                  <a:srgbClr val="F59E0B"/>
                </a:solidFill>
              </a:defRPr>
            </a:pPr>
            <a:r>
              <a:t>✖ No Repair Proof</a:t>
            </a:r>
          </a:p>
          <a:p>
            <a:pPr>
              <a:spcAft>
                <a:spcPts val="600"/>
              </a:spcAft>
              <a:defRPr sz="1050">
                <a:solidFill>
                  <a:srgbClr val="94A3B8"/>
                </a:solidFill>
              </a:defRPr>
            </a:pPr>
            <a:r>
              <a:t>Technicians claim verbal completion without submitting photographic proof.</a:t>
            </a:r>
          </a:p>
          <a:p>
            <a:pPr>
              <a:defRPr sz="1150" b="1">
                <a:solidFill>
                  <a:srgbClr val="F59E0B"/>
                </a:solidFill>
              </a:defRPr>
            </a:pPr>
            <a:r>
              <a:t>✖ Delayed Assignment</a:t>
            </a:r>
          </a:p>
          <a:p>
            <a:pPr>
              <a:spcAft>
                <a:spcPts val="600"/>
              </a:spcAft>
              <a:defRPr sz="1050">
                <a:solidFill>
                  <a:srgbClr val="94A3B8"/>
                </a:solidFill>
              </a:defRPr>
            </a:pPr>
            <a:r>
              <a:t>Manual paper routing between administrative offices takes 5 to 14 days.</a:t>
            </a:r>
          </a:p>
          <a:p>
            <a:pPr>
              <a:defRPr sz="1150" b="1">
                <a:solidFill>
                  <a:srgbClr val="F59E0B"/>
                </a:solidFill>
              </a:defRPr>
            </a:pPr>
            <a:r>
              <a:t>✖ No Centralized Audit</a:t>
            </a:r>
          </a:p>
          <a:p>
            <a:pPr>
              <a:spcAft>
                <a:spcPts val="600"/>
              </a:spcAft>
              <a:defRPr sz="1050">
                <a:solidFill>
                  <a:srgbClr val="94A3B8"/>
                </a:solidFill>
              </a:defRPr>
            </a:pPr>
            <a:r>
              <a:t>College authorities lack analytics on recurring appliance failures and SLA response.</a:t>
            </a:r>
          </a:p>
        </p:txBody>
      </p:sp>
      <p:sp>
        <p:nvSpPr>
          <p:cNvPr id="7" name="Rounded Rectangle 6"/>
          <p:cNvSpPr/>
          <p:nvPr/>
        </p:nvSpPr>
        <p:spPr>
          <a:xfrm>
            <a:off x="6217920" y="1463040"/>
            <a:ext cx="5212080" cy="4846320"/>
          </a:xfrm>
          <a:prstGeom prst="roundRect">
            <a:avLst/>
          </a:prstGeom>
          <a:solidFill>
            <a:srgbClr val="131D3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wrap="square" lIns="274320" tIns="274320" rtlCol="0" anchor="ctr"/>
          <a:lstStyle/>
          <a:p>
            <a:pPr algn="ctr">
              <a:spcAft>
                <a:spcPts val="1000"/>
              </a:spcAft>
              <a:defRPr sz="1300" b="1">
                <a:solidFill>
                  <a:srgbClr val="10B981"/>
                </a:solidFill>
              </a:defRPr>
            </a:pPr>
            <a:r>
              <a:t>CAMPUS CONNECT SOLUTION</a:t>
            </a:r>
          </a:p>
          <a:p>
            <a:pPr>
              <a:defRPr sz="1150" b="1">
                <a:solidFill>
                  <a:srgbClr val="06B6D4"/>
                </a:solidFill>
              </a:defRPr>
            </a:pPr>
            <a:r>
              <a:t>✔ Centralized Web Portal</a:t>
            </a:r>
          </a:p>
          <a:p>
            <a:pPr>
              <a:spcAft>
                <a:spcPts val="600"/>
              </a:spcAft>
              <a:defRPr sz="1050">
                <a:solidFill>
                  <a:srgbClr val="E2E8F0"/>
                </a:solidFill>
              </a:defRPr>
            </a:pPr>
            <a:r>
              <a:t>Single, accessible digital platform with instant complaint submission and ticket IDs.</a:t>
            </a:r>
          </a:p>
          <a:p>
            <a:pPr>
              <a:defRPr sz="1150" b="1">
                <a:solidFill>
                  <a:srgbClr val="06B6D4"/>
                </a:solidFill>
              </a:defRPr>
            </a:pPr>
            <a:r>
              <a:t>✔ 7-Stage Live Progress Bar</a:t>
            </a:r>
          </a:p>
          <a:p>
            <a:pPr>
              <a:spcAft>
                <a:spcPts val="600"/>
              </a:spcAft>
              <a:defRPr sz="1050">
                <a:solidFill>
                  <a:srgbClr val="E2E8F0"/>
                </a:solidFill>
              </a:defRPr>
            </a:pPr>
            <a:r>
              <a:t>Granular real-time tracking (14% → 100% Work Done) with live status tags.</a:t>
            </a:r>
          </a:p>
          <a:p>
            <a:pPr>
              <a:defRPr sz="1150" b="1">
                <a:solidFill>
                  <a:srgbClr val="06B6D4"/>
                </a:solidFill>
              </a:defRPr>
            </a:pPr>
            <a:r>
              <a:t>✔ Mandatory Photo Proof</a:t>
            </a:r>
          </a:p>
          <a:p>
            <a:pPr>
              <a:spcAft>
                <a:spcPts val="600"/>
              </a:spcAft>
              <a:defRPr sz="1050">
                <a:solidFill>
                  <a:srgbClr val="E2E8F0"/>
                </a:solidFill>
              </a:defRPr>
            </a:pPr>
            <a:r>
              <a:t>Technicians must upload resolution proof photos before faculty inspection.</a:t>
            </a:r>
          </a:p>
          <a:p>
            <a:pPr>
              <a:defRPr sz="1150" b="1">
                <a:solidFill>
                  <a:srgbClr val="06B6D4"/>
                </a:solidFill>
              </a:defRPr>
            </a:pPr>
            <a:r>
              <a:t>✔ Automated Dispatching</a:t>
            </a:r>
          </a:p>
          <a:p>
            <a:pPr>
              <a:spcAft>
                <a:spcPts val="600"/>
              </a:spcAft>
              <a:defRPr sz="1050">
                <a:solidFill>
                  <a:srgbClr val="E2E8F0"/>
                </a:solidFill>
              </a:defRPr>
            </a:pPr>
            <a:r>
              <a:t>Admin routes issues to specialized technicians with enforceable deadlines.</a:t>
            </a:r>
          </a:p>
          <a:p>
            <a:pPr>
              <a:defRPr sz="1150" b="1">
                <a:solidFill>
                  <a:srgbClr val="06B6D4"/>
                </a:solidFill>
              </a:defRPr>
            </a:pPr>
            <a:r>
              <a:t>✔ Real-Time Analytics &amp; Feed</a:t>
            </a:r>
          </a:p>
          <a:p>
            <a:pPr>
              <a:spcAft>
                <a:spcPts val="600"/>
              </a:spcAft>
              <a:defRPr sz="1050">
                <a:solidFill>
                  <a:srgbClr val="E2E8F0"/>
                </a:solidFill>
              </a:defRPr>
            </a:pPr>
            <a:r>
              <a:t>Public transparency feed and administrative charts powered by Chart.js.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20040"/>
            <a:ext cx="10698480" cy="274320"/>
          </a:xfrm>
          <a:prstGeom prst="rect">
            <a:avLst/>
          </a:prstGeom>
          <a:noFill/>
        </p:spPr>
        <p:txBody>
          <a:bodyPr wrap="square" lIns="0" tIns="0" rIns="0" bIns="0">
            <a:spAutoFit/>
          </a:bodyPr>
          <a:lstStyle/>
          <a:p>
            <a:pPr>
              <a:defRPr sz="1000" b="1">
                <a:solidFill>
                  <a:srgbClr val="06B6D4"/>
                </a:solidFill>
                <a:latin typeface="Calibri"/>
              </a:defRPr>
            </a:pPr>
            <a:r>
              <a:t>CAMPUS CONNECT | WEB ENGINEERING PROJECT</a:t>
            </a:r>
          </a:p>
        </p:txBody>
      </p:sp>
      <p:sp>
        <p:nvSpPr>
          <p:cNvPr id="4" name="TextBox 3"/>
          <p:cNvSpPr txBox="1"/>
          <p:nvPr/>
        </p:nvSpPr>
        <p:spPr>
          <a:xfrm>
            <a:off x="731520" y="594360"/>
            <a:ext cx="10698480" cy="548640"/>
          </a:xfrm>
          <a:prstGeom prst="rect">
            <a:avLst/>
          </a:prstGeom>
          <a:noFill/>
        </p:spPr>
        <p:txBody>
          <a:bodyPr wrap="square" lIns="0" tIns="0" rIns="0" bIns="0">
            <a:spAutoFit/>
          </a:bodyPr>
          <a:lstStyle/>
          <a:p>
            <a:pPr>
              <a:defRPr sz="2200" b="1">
                <a:solidFill>
                  <a:srgbClr val="FFFFFF"/>
                </a:solidFill>
                <a:latin typeface="Segoe UI"/>
              </a:defRPr>
            </a:pPr>
            <a:r>
              <a:t>Core Objectives of Campus Connect</a:t>
            </a:r>
          </a:p>
        </p:txBody>
      </p:sp>
      <p:sp>
        <p:nvSpPr>
          <p:cNvPr id="5" name="Rectangle 4"/>
          <p:cNvSpPr/>
          <p:nvPr/>
        </p:nvSpPr>
        <p:spPr>
          <a:xfrm>
            <a:off x="731520" y="1188720"/>
            <a:ext cx="2011680" cy="36576"/>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3474720" cy="1463040"/>
          </a:xfrm>
          <a:prstGeom prst="roundRect">
            <a:avLst/>
          </a:prstGeom>
          <a:solidFill>
            <a:srgbClr val="131D36"/>
          </a:solidFill>
          <a:ln>
            <a:solidFill>
              <a:srgbClr val="2735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68680" y="1572768"/>
            <a:ext cx="731520"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645920"/>
            <a:ext cx="3200400" cy="1188720"/>
          </a:xfrm>
          <a:prstGeom prst="rect">
            <a:avLst/>
          </a:prstGeom>
          <a:noFill/>
        </p:spPr>
        <p:txBody>
          <a:bodyPr wrap="square">
            <a:spAutoFit/>
          </a:bodyPr>
          <a:lstStyle/>
          <a:p>
            <a:pPr>
              <a:spcAft>
                <a:spcPts val="300"/>
              </a:spcAft>
              <a:defRPr sz="1200" b="1">
                <a:solidFill>
                  <a:srgbClr val="2563EB"/>
                </a:solidFill>
              </a:defRPr>
            </a:pPr>
            <a:r>
              <a:t>1. Centralized Reporting</a:t>
            </a:r>
          </a:p>
          <a:p>
            <a:pPr>
              <a:defRPr sz="1000">
                <a:solidFill>
                  <a:srgbClr val="E2E8F0"/>
                </a:solidFill>
              </a:defRPr>
            </a:pPr>
            <a:r>
              <a:t>Provide a single, accessible platform for all campus infrastructure and academic grievances.</a:t>
            </a:r>
          </a:p>
        </p:txBody>
      </p:sp>
      <p:sp>
        <p:nvSpPr>
          <p:cNvPr id="9" name="Rounded Rectangle 8"/>
          <p:cNvSpPr/>
          <p:nvPr/>
        </p:nvSpPr>
        <p:spPr>
          <a:xfrm>
            <a:off x="4343400" y="1463040"/>
            <a:ext cx="3474720" cy="1463040"/>
          </a:xfrm>
          <a:prstGeom prst="roundRect">
            <a:avLst/>
          </a:prstGeom>
          <a:solidFill>
            <a:srgbClr val="131D36"/>
          </a:solidFill>
          <a:ln>
            <a:solidFill>
              <a:srgbClr val="2735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480560" y="1572768"/>
            <a:ext cx="731520" cy="36576"/>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80560" y="1645920"/>
            <a:ext cx="3200400" cy="1188720"/>
          </a:xfrm>
          <a:prstGeom prst="rect">
            <a:avLst/>
          </a:prstGeom>
          <a:noFill/>
        </p:spPr>
        <p:txBody>
          <a:bodyPr wrap="square">
            <a:spAutoFit/>
          </a:bodyPr>
          <a:lstStyle/>
          <a:p>
            <a:pPr>
              <a:spcAft>
                <a:spcPts val="300"/>
              </a:spcAft>
              <a:defRPr sz="1200" b="1">
                <a:solidFill>
                  <a:srgbClr val="06B6D4"/>
                </a:solidFill>
              </a:defRPr>
            </a:pPr>
            <a:r>
              <a:t>2. Evidence-Based Filing</a:t>
            </a:r>
          </a:p>
          <a:p>
            <a:pPr>
              <a:defRPr sz="1000">
                <a:solidFill>
                  <a:srgbClr val="E2E8F0"/>
                </a:solidFill>
              </a:defRPr>
            </a:pPr>
            <a:r>
              <a:t>Enable students to upload fault photos and video recordings for immediate visual diagnosis.</a:t>
            </a:r>
          </a:p>
        </p:txBody>
      </p:sp>
      <p:sp>
        <p:nvSpPr>
          <p:cNvPr id="12" name="Rounded Rectangle 11"/>
          <p:cNvSpPr/>
          <p:nvPr/>
        </p:nvSpPr>
        <p:spPr>
          <a:xfrm>
            <a:off x="7955280" y="1463040"/>
            <a:ext cx="3474720" cy="1463040"/>
          </a:xfrm>
          <a:prstGeom prst="roundRect">
            <a:avLst/>
          </a:prstGeom>
          <a:solidFill>
            <a:srgbClr val="131D36"/>
          </a:solidFill>
          <a:ln>
            <a:solidFill>
              <a:srgbClr val="2735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092440" y="1572768"/>
            <a:ext cx="731520" cy="36576"/>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92440" y="1645920"/>
            <a:ext cx="3200400" cy="1188720"/>
          </a:xfrm>
          <a:prstGeom prst="rect">
            <a:avLst/>
          </a:prstGeom>
          <a:noFill/>
        </p:spPr>
        <p:txBody>
          <a:bodyPr wrap="square">
            <a:spAutoFit/>
          </a:bodyPr>
          <a:lstStyle/>
          <a:p>
            <a:pPr>
              <a:spcAft>
                <a:spcPts val="300"/>
              </a:spcAft>
              <a:defRPr sz="1200" b="1">
                <a:solidFill>
                  <a:srgbClr val="EF4444"/>
                </a:solidFill>
              </a:defRPr>
            </a:pPr>
            <a:r>
              <a:t>3. Hazard Detection</a:t>
            </a:r>
          </a:p>
          <a:p>
            <a:pPr>
              <a:defRPr sz="1000">
                <a:solidFill>
                  <a:srgbClr val="E2E8F0"/>
                </a:solidFill>
              </a:defRPr>
            </a:pPr>
            <a:r>
              <a:t>Automatically detect high-priority keywords ('open wire', 'sparking') for instant safety escalation.</a:t>
            </a:r>
          </a:p>
        </p:txBody>
      </p:sp>
      <p:sp>
        <p:nvSpPr>
          <p:cNvPr id="15" name="Rounded Rectangle 14"/>
          <p:cNvSpPr/>
          <p:nvPr/>
        </p:nvSpPr>
        <p:spPr>
          <a:xfrm>
            <a:off x="731520" y="3063240"/>
            <a:ext cx="3474720" cy="1463040"/>
          </a:xfrm>
          <a:prstGeom prst="roundRect">
            <a:avLst/>
          </a:prstGeom>
          <a:solidFill>
            <a:srgbClr val="131D36"/>
          </a:solidFill>
          <a:ln>
            <a:solidFill>
              <a:srgbClr val="2735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68680" y="3172968"/>
            <a:ext cx="731520" cy="365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68680" y="3246120"/>
            <a:ext cx="3200400" cy="1188720"/>
          </a:xfrm>
          <a:prstGeom prst="rect">
            <a:avLst/>
          </a:prstGeom>
          <a:noFill/>
        </p:spPr>
        <p:txBody>
          <a:bodyPr wrap="square">
            <a:spAutoFit/>
          </a:bodyPr>
          <a:lstStyle/>
          <a:p>
            <a:pPr>
              <a:spcAft>
                <a:spcPts val="300"/>
              </a:spcAft>
              <a:defRPr sz="1200" b="1">
                <a:solidFill>
                  <a:srgbClr val="7C3AED"/>
                </a:solidFill>
              </a:defRPr>
            </a:pPr>
            <a:r>
              <a:t>4. Departmental Routing</a:t>
            </a:r>
          </a:p>
          <a:p>
            <a:pPr>
              <a:defRPr sz="1000">
                <a:solidFill>
                  <a:srgbClr val="E2E8F0"/>
                </a:solidFill>
              </a:defRPr>
            </a:pPr>
            <a:r>
              <a:t>Enable administrators to verify inbound issues and route them directly to specialized technicians.</a:t>
            </a:r>
          </a:p>
        </p:txBody>
      </p:sp>
      <p:sp>
        <p:nvSpPr>
          <p:cNvPr id="18" name="Rounded Rectangle 17"/>
          <p:cNvSpPr/>
          <p:nvPr/>
        </p:nvSpPr>
        <p:spPr>
          <a:xfrm>
            <a:off x="4343400" y="3063240"/>
            <a:ext cx="3474720" cy="1463040"/>
          </a:xfrm>
          <a:prstGeom prst="roundRect">
            <a:avLst/>
          </a:prstGeom>
          <a:solidFill>
            <a:srgbClr val="131D36"/>
          </a:solidFill>
          <a:ln>
            <a:solidFill>
              <a:srgbClr val="2735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480560" y="3172968"/>
            <a:ext cx="731520"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480560" y="3246120"/>
            <a:ext cx="3200400" cy="1188720"/>
          </a:xfrm>
          <a:prstGeom prst="rect">
            <a:avLst/>
          </a:prstGeom>
          <a:noFill/>
        </p:spPr>
        <p:txBody>
          <a:bodyPr wrap="square">
            <a:spAutoFit/>
          </a:bodyPr>
          <a:lstStyle/>
          <a:p>
            <a:pPr>
              <a:spcAft>
                <a:spcPts val="300"/>
              </a:spcAft>
              <a:defRPr sz="1200" b="1">
                <a:solidFill>
                  <a:srgbClr val="F59E0B"/>
                </a:solidFill>
              </a:defRPr>
            </a:pPr>
            <a:r>
              <a:t>5. Technician Execution</a:t>
            </a:r>
          </a:p>
          <a:p>
            <a:pPr>
              <a:defRPr sz="1000">
                <a:solidFill>
                  <a:srgbClr val="E2E8F0"/>
                </a:solidFill>
              </a:defRPr>
            </a:pPr>
            <a:r>
              <a:t>Allow technicians to view task queues, accept/reject assignments, and track completion deadlines.</a:t>
            </a:r>
          </a:p>
        </p:txBody>
      </p:sp>
      <p:sp>
        <p:nvSpPr>
          <p:cNvPr id="21" name="Rounded Rectangle 20"/>
          <p:cNvSpPr/>
          <p:nvPr/>
        </p:nvSpPr>
        <p:spPr>
          <a:xfrm>
            <a:off x="7955280" y="3063240"/>
            <a:ext cx="3474720" cy="1463040"/>
          </a:xfrm>
          <a:prstGeom prst="roundRect">
            <a:avLst/>
          </a:prstGeom>
          <a:solidFill>
            <a:srgbClr val="131D36"/>
          </a:solidFill>
          <a:ln>
            <a:solidFill>
              <a:srgbClr val="2735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092440" y="3172968"/>
            <a:ext cx="73152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092440" y="3246120"/>
            <a:ext cx="3200400" cy="1188720"/>
          </a:xfrm>
          <a:prstGeom prst="rect">
            <a:avLst/>
          </a:prstGeom>
          <a:noFill/>
        </p:spPr>
        <p:txBody>
          <a:bodyPr wrap="square">
            <a:spAutoFit/>
          </a:bodyPr>
          <a:lstStyle/>
          <a:p>
            <a:pPr>
              <a:spcAft>
                <a:spcPts val="300"/>
              </a:spcAft>
              <a:defRPr sz="1200" b="1">
                <a:solidFill>
                  <a:srgbClr val="10B981"/>
                </a:solidFill>
              </a:defRPr>
            </a:pPr>
            <a:r>
              <a:t>6. Mandatory Proof of Fix</a:t>
            </a:r>
          </a:p>
          <a:p>
            <a:pPr>
              <a:defRPr sz="1000">
                <a:solidFill>
                  <a:srgbClr val="E2E8F0"/>
                </a:solidFill>
              </a:defRPr>
            </a:pPr>
            <a:r>
              <a:t>Require photographic evidence of completed repairs before submission for faculty verification.</a:t>
            </a:r>
          </a:p>
        </p:txBody>
      </p:sp>
      <p:sp>
        <p:nvSpPr>
          <p:cNvPr id="24" name="Rounded Rectangle 23"/>
          <p:cNvSpPr/>
          <p:nvPr/>
        </p:nvSpPr>
        <p:spPr>
          <a:xfrm>
            <a:off x="731520" y="4663440"/>
            <a:ext cx="3474720" cy="1463040"/>
          </a:xfrm>
          <a:prstGeom prst="roundRect">
            <a:avLst/>
          </a:prstGeom>
          <a:solidFill>
            <a:srgbClr val="131D36"/>
          </a:solidFill>
          <a:ln>
            <a:solidFill>
              <a:srgbClr val="2735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68680" y="4773168"/>
            <a:ext cx="731520"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68680" y="4846320"/>
            <a:ext cx="3200400" cy="1188720"/>
          </a:xfrm>
          <a:prstGeom prst="rect">
            <a:avLst/>
          </a:prstGeom>
          <a:noFill/>
        </p:spPr>
        <p:txBody>
          <a:bodyPr wrap="square">
            <a:spAutoFit/>
          </a:bodyPr>
          <a:lstStyle/>
          <a:p>
            <a:pPr>
              <a:spcAft>
                <a:spcPts val="300"/>
              </a:spcAft>
              <a:defRPr sz="1200" b="1">
                <a:solidFill>
                  <a:srgbClr val="2563EB"/>
                </a:solidFill>
              </a:defRPr>
            </a:pPr>
            <a:r>
              <a:t>7. Faculty QA Clearance</a:t>
            </a:r>
          </a:p>
          <a:p>
            <a:pPr>
              <a:defRPr sz="1000">
                <a:solidFill>
                  <a:srgbClr val="E2E8F0"/>
                </a:solidFill>
              </a:defRPr>
            </a:pPr>
            <a:r>
              <a:t>Empower academic faculty advisors to audit repair quality before tickets are officially closed.</a:t>
            </a:r>
          </a:p>
        </p:txBody>
      </p:sp>
      <p:sp>
        <p:nvSpPr>
          <p:cNvPr id="27" name="Rounded Rectangle 26"/>
          <p:cNvSpPr/>
          <p:nvPr/>
        </p:nvSpPr>
        <p:spPr>
          <a:xfrm>
            <a:off x="4343400" y="4663440"/>
            <a:ext cx="3474720" cy="1463040"/>
          </a:xfrm>
          <a:prstGeom prst="roundRect">
            <a:avLst/>
          </a:prstGeom>
          <a:solidFill>
            <a:srgbClr val="131D36"/>
          </a:solidFill>
          <a:ln>
            <a:solidFill>
              <a:srgbClr val="2735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480560" y="4773168"/>
            <a:ext cx="731520" cy="36576"/>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480560" y="4846320"/>
            <a:ext cx="3200400" cy="1188720"/>
          </a:xfrm>
          <a:prstGeom prst="rect">
            <a:avLst/>
          </a:prstGeom>
          <a:noFill/>
        </p:spPr>
        <p:txBody>
          <a:bodyPr wrap="square">
            <a:spAutoFit/>
          </a:bodyPr>
          <a:lstStyle/>
          <a:p>
            <a:pPr>
              <a:spcAft>
                <a:spcPts val="300"/>
              </a:spcAft>
              <a:defRPr sz="1200" b="1">
                <a:solidFill>
                  <a:srgbClr val="06B6D4"/>
                </a:solidFill>
              </a:defRPr>
            </a:pPr>
            <a:r>
              <a:t>8. Campus Transparency</a:t>
            </a:r>
          </a:p>
          <a:p>
            <a:pPr>
              <a:defRPr sz="1000">
                <a:solidFill>
                  <a:srgbClr val="E2E8F0"/>
                </a:solidFill>
              </a:defRPr>
            </a:pPr>
            <a:r>
              <a:t>Display verified issues in a public transparency feed to eliminate duplicate complaints.</a:t>
            </a:r>
          </a:p>
        </p:txBody>
      </p:sp>
      <p:sp>
        <p:nvSpPr>
          <p:cNvPr id="30" name="Rounded Rectangle 29"/>
          <p:cNvSpPr/>
          <p:nvPr/>
        </p:nvSpPr>
        <p:spPr>
          <a:xfrm>
            <a:off x="7955280" y="4663440"/>
            <a:ext cx="3474720" cy="1463040"/>
          </a:xfrm>
          <a:prstGeom prst="roundRect">
            <a:avLst/>
          </a:prstGeom>
          <a:solidFill>
            <a:srgbClr val="131D36"/>
          </a:solidFill>
          <a:ln>
            <a:solidFill>
              <a:srgbClr val="2735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092440" y="4773168"/>
            <a:ext cx="731520" cy="365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092440" y="4846320"/>
            <a:ext cx="3200400" cy="1188720"/>
          </a:xfrm>
          <a:prstGeom prst="rect">
            <a:avLst/>
          </a:prstGeom>
          <a:noFill/>
        </p:spPr>
        <p:txBody>
          <a:bodyPr wrap="square">
            <a:spAutoFit/>
          </a:bodyPr>
          <a:lstStyle/>
          <a:p>
            <a:pPr>
              <a:spcAft>
                <a:spcPts val="300"/>
              </a:spcAft>
              <a:defRPr sz="1200" b="1">
                <a:solidFill>
                  <a:srgbClr val="7C3AED"/>
                </a:solidFill>
              </a:defRPr>
            </a:pPr>
            <a:r>
              <a:t>9. Administrative Analytics</a:t>
            </a:r>
          </a:p>
          <a:p>
            <a:pPr>
              <a:defRPr sz="1000">
                <a:solidFill>
                  <a:srgbClr val="E2E8F0"/>
                </a:solidFill>
              </a:defRPr>
            </a:pPr>
            <a:r>
              <a:t>Provide interactive department distribution charts and resolution rate metrics via Chart.js.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20040"/>
            <a:ext cx="10698480" cy="274320"/>
          </a:xfrm>
          <a:prstGeom prst="rect">
            <a:avLst/>
          </a:prstGeom>
          <a:noFill/>
        </p:spPr>
        <p:txBody>
          <a:bodyPr wrap="square" lIns="0" tIns="0" rIns="0" bIns="0">
            <a:spAutoFit/>
          </a:bodyPr>
          <a:lstStyle/>
          <a:p>
            <a:pPr>
              <a:defRPr sz="1000" b="1">
                <a:solidFill>
                  <a:srgbClr val="06B6D4"/>
                </a:solidFill>
                <a:latin typeface="Calibri"/>
              </a:defRPr>
            </a:pPr>
            <a:r>
              <a:t>CAMPUS CONNECT | WEB ENGINEERING PROJECT</a:t>
            </a:r>
          </a:p>
        </p:txBody>
      </p:sp>
      <p:sp>
        <p:nvSpPr>
          <p:cNvPr id="4" name="TextBox 3"/>
          <p:cNvSpPr txBox="1"/>
          <p:nvPr/>
        </p:nvSpPr>
        <p:spPr>
          <a:xfrm>
            <a:off x="731520" y="594360"/>
            <a:ext cx="10698480" cy="548640"/>
          </a:xfrm>
          <a:prstGeom prst="rect">
            <a:avLst/>
          </a:prstGeom>
          <a:noFill/>
        </p:spPr>
        <p:txBody>
          <a:bodyPr wrap="square" lIns="0" tIns="0" rIns="0" bIns="0">
            <a:spAutoFit/>
          </a:bodyPr>
          <a:lstStyle/>
          <a:p>
            <a:pPr>
              <a:defRPr sz="2200" b="1">
                <a:solidFill>
                  <a:srgbClr val="FFFFFF"/>
                </a:solidFill>
                <a:latin typeface="Segoe UI"/>
              </a:defRPr>
            </a:pPr>
            <a:r>
              <a:t>Complete Website Workflow &amp; Flowchart</a:t>
            </a:r>
          </a:p>
        </p:txBody>
      </p:sp>
      <p:sp>
        <p:nvSpPr>
          <p:cNvPr id="5" name="Rectangle 4"/>
          <p:cNvSpPr/>
          <p:nvPr/>
        </p:nvSpPr>
        <p:spPr>
          <a:xfrm>
            <a:off x="731520" y="1188720"/>
            <a:ext cx="2011680" cy="36576"/>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1691640" cy="3108960"/>
          </a:xfrm>
          <a:prstGeom prst="roundRect">
            <a:avLst/>
          </a:prstGeom>
          <a:solidFill>
            <a:srgbClr val="131D36"/>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22960" y="1554480"/>
            <a:ext cx="1508760" cy="4114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tIns="54864" rtlCol="0" anchor="ctr"/>
          <a:lstStyle/>
          <a:p>
            <a:pPr algn="ctr">
              <a:defRPr sz="1050" b="1">
                <a:solidFill>
                  <a:srgbClr val="FFFFFF"/>
                </a:solidFill>
              </a:defRPr>
            </a:pPr>
            <a:r>
              <a:t>1. Student</a:t>
            </a:r>
          </a:p>
        </p:txBody>
      </p:sp>
      <p:sp>
        <p:nvSpPr>
          <p:cNvPr id="8" name="TextBox 7"/>
          <p:cNvSpPr txBox="1"/>
          <p:nvPr/>
        </p:nvSpPr>
        <p:spPr>
          <a:xfrm>
            <a:off x="822960" y="2057400"/>
            <a:ext cx="1508760" cy="2377440"/>
          </a:xfrm>
          <a:prstGeom prst="rect">
            <a:avLst/>
          </a:prstGeom>
          <a:noFill/>
        </p:spPr>
        <p:txBody>
          <a:bodyPr wrap="square">
            <a:spAutoFit/>
          </a:bodyPr>
          <a:lstStyle/>
          <a:p>
            <a:pPr>
              <a:defRPr sz="1050">
                <a:solidFill>
                  <a:srgbClr val="E2E8F0"/>
                </a:solidFill>
              </a:defRPr>
            </a:pPr>
            <a:r>
              <a:t>Logs in, fills details, attaches photo/video evidence.</a:t>
            </a:r>
          </a:p>
        </p:txBody>
      </p:sp>
      <p:sp>
        <p:nvSpPr>
          <p:cNvPr id="9" name="Rounded Rectangle 8"/>
          <p:cNvSpPr/>
          <p:nvPr/>
        </p:nvSpPr>
        <p:spPr>
          <a:xfrm>
            <a:off x="2542032" y="1463040"/>
            <a:ext cx="1691640" cy="3108960"/>
          </a:xfrm>
          <a:prstGeom prst="roundRect">
            <a:avLst/>
          </a:prstGeom>
          <a:solidFill>
            <a:srgbClr val="131D36"/>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2633472" y="1554480"/>
            <a:ext cx="1508760" cy="411480"/>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tIns="54864" rtlCol="0" anchor="ctr"/>
          <a:lstStyle/>
          <a:p>
            <a:pPr algn="ctr">
              <a:defRPr sz="1050" b="1">
                <a:solidFill>
                  <a:srgbClr val="FFFFFF"/>
                </a:solidFill>
              </a:defRPr>
            </a:pPr>
            <a:r>
              <a:t>2. Hazard Engine</a:t>
            </a:r>
          </a:p>
        </p:txBody>
      </p:sp>
      <p:sp>
        <p:nvSpPr>
          <p:cNvPr id="11" name="TextBox 10"/>
          <p:cNvSpPr txBox="1"/>
          <p:nvPr/>
        </p:nvSpPr>
        <p:spPr>
          <a:xfrm>
            <a:off x="2633472" y="2057400"/>
            <a:ext cx="1508760" cy="2377440"/>
          </a:xfrm>
          <a:prstGeom prst="rect">
            <a:avLst/>
          </a:prstGeom>
          <a:noFill/>
        </p:spPr>
        <p:txBody>
          <a:bodyPr wrap="square">
            <a:spAutoFit/>
          </a:bodyPr>
          <a:lstStyle/>
          <a:p>
            <a:pPr>
              <a:defRPr sz="1050">
                <a:solidFill>
                  <a:srgbClr val="E2E8F0"/>
                </a:solidFill>
              </a:defRPr>
            </a:pPr>
            <a:r>
              <a:t>Scans text for urgent keywords, assigns priority tag.</a:t>
            </a:r>
          </a:p>
        </p:txBody>
      </p:sp>
      <p:sp>
        <p:nvSpPr>
          <p:cNvPr id="12" name="Rounded Rectangle 11"/>
          <p:cNvSpPr/>
          <p:nvPr/>
        </p:nvSpPr>
        <p:spPr>
          <a:xfrm>
            <a:off x="4352544" y="1463040"/>
            <a:ext cx="1691640" cy="3108960"/>
          </a:xfrm>
          <a:prstGeom prst="roundRect">
            <a:avLst/>
          </a:prstGeom>
          <a:solidFill>
            <a:srgbClr val="131D36"/>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443984" y="1554480"/>
            <a:ext cx="1508760" cy="41148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tIns="54864" rtlCol="0" anchor="ctr"/>
          <a:lstStyle/>
          <a:p>
            <a:pPr algn="ctr">
              <a:defRPr sz="1050" b="1">
                <a:solidFill>
                  <a:srgbClr val="FFFFFF"/>
                </a:solidFill>
              </a:defRPr>
            </a:pPr>
            <a:r>
              <a:t>3. Admin Audit</a:t>
            </a:r>
          </a:p>
        </p:txBody>
      </p:sp>
      <p:sp>
        <p:nvSpPr>
          <p:cNvPr id="14" name="TextBox 13"/>
          <p:cNvSpPr txBox="1"/>
          <p:nvPr/>
        </p:nvSpPr>
        <p:spPr>
          <a:xfrm>
            <a:off x="4443984" y="2057400"/>
            <a:ext cx="1508760" cy="2377440"/>
          </a:xfrm>
          <a:prstGeom prst="rect">
            <a:avLst/>
          </a:prstGeom>
          <a:noFill/>
        </p:spPr>
        <p:txBody>
          <a:bodyPr wrap="square">
            <a:spAutoFit/>
          </a:bodyPr>
          <a:lstStyle/>
          <a:p>
            <a:pPr>
              <a:defRPr sz="1050">
                <a:solidFill>
                  <a:srgbClr val="E2E8F0"/>
                </a:solidFill>
              </a:defRPr>
            </a:pPr>
            <a:r>
              <a:t>Audits inbound report, selects technician &amp; deadline.</a:t>
            </a:r>
          </a:p>
        </p:txBody>
      </p:sp>
      <p:sp>
        <p:nvSpPr>
          <p:cNvPr id="15" name="Rounded Rectangle 14"/>
          <p:cNvSpPr/>
          <p:nvPr/>
        </p:nvSpPr>
        <p:spPr>
          <a:xfrm>
            <a:off x="6163055" y="1463040"/>
            <a:ext cx="1691640" cy="3108960"/>
          </a:xfrm>
          <a:prstGeom prst="roundRect">
            <a:avLst/>
          </a:prstGeom>
          <a:solidFill>
            <a:srgbClr val="131D36"/>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254495" y="1554480"/>
            <a:ext cx="1508760" cy="41148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tIns="54864" rtlCol="0" anchor="ctr"/>
          <a:lstStyle/>
          <a:p>
            <a:pPr algn="ctr">
              <a:defRPr sz="1050" b="1">
                <a:solidFill>
                  <a:srgbClr val="FFFFFF"/>
                </a:solidFill>
              </a:defRPr>
            </a:pPr>
            <a:r>
              <a:t>4. Technician</a:t>
            </a:r>
          </a:p>
        </p:txBody>
      </p:sp>
      <p:sp>
        <p:nvSpPr>
          <p:cNvPr id="17" name="TextBox 16"/>
          <p:cNvSpPr txBox="1"/>
          <p:nvPr/>
        </p:nvSpPr>
        <p:spPr>
          <a:xfrm>
            <a:off x="6254495" y="2057400"/>
            <a:ext cx="1508760" cy="2377440"/>
          </a:xfrm>
          <a:prstGeom prst="rect">
            <a:avLst/>
          </a:prstGeom>
          <a:noFill/>
        </p:spPr>
        <p:txBody>
          <a:bodyPr wrap="square">
            <a:spAutoFit/>
          </a:bodyPr>
          <a:lstStyle/>
          <a:p>
            <a:pPr>
              <a:defRPr sz="1050">
                <a:solidFill>
                  <a:srgbClr val="E2E8F0"/>
                </a:solidFill>
              </a:defRPr>
            </a:pPr>
            <a:r>
              <a:t>Receives task, accepts order, executes physical fix.</a:t>
            </a:r>
          </a:p>
        </p:txBody>
      </p:sp>
      <p:sp>
        <p:nvSpPr>
          <p:cNvPr id="18" name="Rounded Rectangle 17"/>
          <p:cNvSpPr/>
          <p:nvPr/>
        </p:nvSpPr>
        <p:spPr>
          <a:xfrm>
            <a:off x="7973568" y="1463040"/>
            <a:ext cx="1691640" cy="3108960"/>
          </a:xfrm>
          <a:prstGeom prst="roundRect">
            <a:avLst/>
          </a:prstGeom>
          <a:solidFill>
            <a:srgbClr val="131D36"/>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065008" y="1554480"/>
            <a:ext cx="1508760" cy="41148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tIns="54864" rtlCol="0" anchor="ctr"/>
          <a:lstStyle/>
          <a:p>
            <a:pPr algn="ctr">
              <a:defRPr sz="1050" b="1">
                <a:solidFill>
                  <a:srgbClr val="FFFFFF"/>
                </a:solidFill>
              </a:defRPr>
            </a:pPr>
            <a:r>
              <a:t>5. Proof Upload</a:t>
            </a:r>
          </a:p>
        </p:txBody>
      </p:sp>
      <p:sp>
        <p:nvSpPr>
          <p:cNvPr id="20" name="TextBox 19"/>
          <p:cNvSpPr txBox="1"/>
          <p:nvPr/>
        </p:nvSpPr>
        <p:spPr>
          <a:xfrm>
            <a:off x="8065008" y="2057400"/>
            <a:ext cx="1508760" cy="2377440"/>
          </a:xfrm>
          <a:prstGeom prst="rect">
            <a:avLst/>
          </a:prstGeom>
          <a:noFill/>
        </p:spPr>
        <p:txBody>
          <a:bodyPr wrap="square">
            <a:spAutoFit/>
          </a:bodyPr>
          <a:lstStyle/>
          <a:p>
            <a:pPr>
              <a:defRPr sz="1050">
                <a:solidFill>
                  <a:srgbClr val="E2E8F0"/>
                </a:solidFill>
              </a:defRPr>
            </a:pPr>
            <a:r>
              <a:t>Uploads photo proof of repair + resolution comments.</a:t>
            </a:r>
          </a:p>
        </p:txBody>
      </p:sp>
      <p:sp>
        <p:nvSpPr>
          <p:cNvPr id="21" name="Rounded Rectangle 20"/>
          <p:cNvSpPr/>
          <p:nvPr/>
        </p:nvSpPr>
        <p:spPr>
          <a:xfrm>
            <a:off x="9784080" y="1463040"/>
            <a:ext cx="1691640" cy="3108960"/>
          </a:xfrm>
          <a:prstGeom prst="roundRect">
            <a:avLst/>
          </a:prstGeom>
          <a:solidFill>
            <a:srgbClr val="131D3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9875520" y="1554480"/>
            <a:ext cx="1508760" cy="41148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tIns="54864" rtlCol="0" anchor="ctr"/>
          <a:lstStyle/>
          <a:p>
            <a:pPr algn="ctr">
              <a:defRPr sz="1050" b="1">
                <a:solidFill>
                  <a:srgbClr val="FFFFFF"/>
                </a:solidFill>
              </a:defRPr>
            </a:pPr>
            <a:r>
              <a:t>6. Faculty QA</a:t>
            </a:r>
          </a:p>
        </p:txBody>
      </p:sp>
      <p:sp>
        <p:nvSpPr>
          <p:cNvPr id="23" name="TextBox 22"/>
          <p:cNvSpPr txBox="1"/>
          <p:nvPr/>
        </p:nvSpPr>
        <p:spPr>
          <a:xfrm>
            <a:off x="9875520" y="2057400"/>
            <a:ext cx="1508760" cy="2377440"/>
          </a:xfrm>
          <a:prstGeom prst="rect">
            <a:avLst/>
          </a:prstGeom>
          <a:noFill/>
        </p:spPr>
        <p:txBody>
          <a:bodyPr wrap="square">
            <a:spAutoFit/>
          </a:bodyPr>
          <a:lstStyle/>
          <a:p>
            <a:pPr>
              <a:defRPr sz="1050">
                <a:solidFill>
                  <a:srgbClr val="E2E8F0"/>
                </a:solidFill>
              </a:defRPr>
            </a:pPr>
            <a:r>
              <a:t>Inspects fix, audits proof, and confirms closure.</a:t>
            </a:r>
          </a:p>
        </p:txBody>
      </p:sp>
      <p:sp>
        <p:nvSpPr>
          <p:cNvPr id="24" name="Rounded Rectangle 23"/>
          <p:cNvSpPr/>
          <p:nvPr/>
        </p:nvSpPr>
        <p:spPr>
          <a:xfrm>
            <a:off x="731520" y="4800600"/>
            <a:ext cx="10698480" cy="1600200"/>
          </a:xfrm>
          <a:prstGeom prst="roundRect">
            <a:avLst/>
          </a:prstGeom>
          <a:solidFill>
            <a:srgbClr val="131D36"/>
          </a:solidFill>
          <a:ln>
            <a:solidFill>
              <a:srgbClr val="06B6D4"/>
            </a:solidFill>
          </a:ln>
        </p:spPr>
        <p:style>
          <a:lnRef idx="1">
            <a:schemeClr val="accent1"/>
          </a:lnRef>
          <a:fillRef idx="3">
            <a:schemeClr val="accent1"/>
          </a:fillRef>
          <a:effectRef idx="2">
            <a:schemeClr val="accent1"/>
          </a:effectRef>
          <a:fontRef idx="minor">
            <a:schemeClr val="lt1"/>
          </a:fontRef>
        </p:style>
        <p:txBody>
          <a:bodyPr lIns="274320" tIns="164592" rtlCol="0" anchor="ctr"/>
          <a:lstStyle/>
          <a:p>
            <a:pPr algn="ctr">
              <a:defRPr sz="1200" b="1">
                <a:solidFill>
                  <a:srgbClr val="06B6D4"/>
                </a:solidFill>
              </a:defRPr>
            </a:pPr>
            <a:r>
              <a:t>THE 4 CORE ACTORS IN THE RESOLUTION CHAIN</a:t>
            </a:r>
          </a:p>
          <a:p>
            <a:pPr>
              <a:spcAft>
                <a:spcPts val="400"/>
              </a:spcAft>
              <a:defRPr sz="1300" b="1">
                <a:solidFill>
                  <a:srgbClr val="FFFFFF"/>
                </a:solidFill>
              </a:defRPr>
            </a:pPr>
            <a:r>
              <a:t>Student (Filer) ➔ Administrator (Verifier &amp; Dispatcher) ➔ Technician (Executor) ➔ Faculty (QA Inspector)</a:t>
            </a:r>
          </a:p>
          <a:p>
            <a:pPr>
              <a:defRPr sz="1100">
                <a:solidFill>
                  <a:srgbClr val="10B981"/>
                </a:solidFill>
              </a:defRPr>
            </a:pPr>
            <a:r>
              <a:t>• Once Faculty approves the fix, status becomes 'Completed ✅' (100% Work Done) and automatically updates in the Public Transparency Feed.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20040"/>
            <a:ext cx="10698480" cy="274320"/>
          </a:xfrm>
          <a:prstGeom prst="rect">
            <a:avLst/>
          </a:prstGeom>
          <a:noFill/>
        </p:spPr>
        <p:txBody>
          <a:bodyPr wrap="square" lIns="0" tIns="0" rIns="0" bIns="0">
            <a:spAutoFit/>
          </a:bodyPr>
          <a:lstStyle/>
          <a:p>
            <a:pPr>
              <a:defRPr sz="1000" b="1">
                <a:solidFill>
                  <a:srgbClr val="06B6D4"/>
                </a:solidFill>
                <a:latin typeface="Calibri"/>
              </a:defRPr>
            </a:pPr>
            <a:r>
              <a:t>CAMPUS CONNECT | WEB ENGINEERING PROJECT</a:t>
            </a:r>
          </a:p>
        </p:txBody>
      </p:sp>
      <p:sp>
        <p:nvSpPr>
          <p:cNvPr id="4" name="TextBox 3"/>
          <p:cNvSpPr txBox="1"/>
          <p:nvPr/>
        </p:nvSpPr>
        <p:spPr>
          <a:xfrm>
            <a:off x="731520" y="594360"/>
            <a:ext cx="10698480" cy="548640"/>
          </a:xfrm>
          <a:prstGeom prst="rect">
            <a:avLst/>
          </a:prstGeom>
          <a:noFill/>
        </p:spPr>
        <p:txBody>
          <a:bodyPr wrap="square" lIns="0" tIns="0" rIns="0" bIns="0">
            <a:spAutoFit/>
          </a:bodyPr>
          <a:lstStyle/>
          <a:p>
            <a:pPr>
              <a:defRPr sz="2200" b="1">
                <a:solidFill>
                  <a:srgbClr val="FFFFFF"/>
                </a:solidFill>
                <a:latin typeface="Segoe UI"/>
              </a:defRPr>
            </a:pPr>
            <a:r>
              <a:t>Detailed 4-Step Resolution Lifecycle</a:t>
            </a:r>
          </a:p>
        </p:txBody>
      </p:sp>
      <p:sp>
        <p:nvSpPr>
          <p:cNvPr id="5" name="Rectangle 4"/>
          <p:cNvSpPr/>
          <p:nvPr/>
        </p:nvSpPr>
        <p:spPr>
          <a:xfrm>
            <a:off x="731520" y="1188720"/>
            <a:ext cx="2011680" cy="36576"/>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2578608" cy="4846320"/>
          </a:xfrm>
          <a:prstGeom prst="roundRect">
            <a:avLst/>
          </a:prstGeom>
          <a:solidFill>
            <a:srgbClr val="131D36"/>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41248" y="1572768"/>
            <a:ext cx="2359152" cy="5029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tIns="73152" rtlCol="0" anchor="ctr"/>
          <a:lstStyle/>
          <a:p>
            <a:pPr algn="ctr">
              <a:defRPr sz="1100" b="1">
                <a:solidFill>
                  <a:srgbClr val="FFFFFF"/>
                </a:solidFill>
              </a:defRPr>
            </a:pPr>
            <a:r>
              <a:t>Step 1: Student Submission</a:t>
            </a:r>
          </a:p>
        </p:txBody>
      </p:sp>
      <p:sp>
        <p:nvSpPr>
          <p:cNvPr id="8" name="TextBox 7"/>
          <p:cNvSpPr txBox="1"/>
          <p:nvPr/>
        </p:nvSpPr>
        <p:spPr>
          <a:xfrm>
            <a:off x="868680" y="2194560"/>
            <a:ext cx="2304288" cy="3931920"/>
          </a:xfrm>
          <a:prstGeom prst="rect">
            <a:avLst/>
          </a:prstGeom>
          <a:noFill/>
        </p:spPr>
        <p:txBody>
          <a:bodyPr wrap="square">
            <a:spAutoFit/>
          </a:bodyPr>
          <a:lstStyle/>
          <a:p>
            <a:pPr>
              <a:defRPr sz="1050">
                <a:solidFill>
                  <a:srgbClr val="E2E8F0"/>
                </a:solidFill>
              </a:defRPr>
            </a:pPr>
            <a:r>
              <a:t>• Student logs into portal with GR No</a:t>
            </a:r>
            <a:br/>
            <a:r>
              <a:t>• Enters title, category, location, desc</a:t>
            </a:r>
            <a:br/>
            <a:r>
              <a:t>• Uploads raw fault photo or video</a:t>
            </a:r>
            <a:br/>
            <a:r>
              <a:t>• Keyword engine flags high-priority hazards</a:t>
            </a:r>
            <a:br/>
            <a:r>
              <a:t>• Status: 'Complaint Submitted' (Stage 1 • 14%)</a:t>
            </a:r>
          </a:p>
        </p:txBody>
      </p:sp>
      <p:sp>
        <p:nvSpPr>
          <p:cNvPr id="9" name="Rounded Rectangle 8"/>
          <p:cNvSpPr/>
          <p:nvPr/>
        </p:nvSpPr>
        <p:spPr>
          <a:xfrm>
            <a:off x="3456432" y="1463040"/>
            <a:ext cx="2578608" cy="4846320"/>
          </a:xfrm>
          <a:prstGeom prst="roundRect">
            <a:avLst/>
          </a:prstGeom>
          <a:solidFill>
            <a:srgbClr val="131D36"/>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566160" y="1572768"/>
            <a:ext cx="2359152" cy="50292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tIns="73152" rtlCol="0" anchor="ctr"/>
          <a:lstStyle/>
          <a:p>
            <a:pPr algn="ctr">
              <a:defRPr sz="1100" b="1">
                <a:solidFill>
                  <a:srgbClr val="FFFFFF"/>
                </a:solidFill>
              </a:defRPr>
            </a:pPr>
            <a:r>
              <a:t>Step 2: Admin Dispatch</a:t>
            </a:r>
          </a:p>
        </p:txBody>
      </p:sp>
      <p:sp>
        <p:nvSpPr>
          <p:cNvPr id="11" name="TextBox 10"/>
          <p:cNvSpPr txBox="1"/>
          <p:nvPr/>
        </p:nvSpPr>
        <p:spPr>
          <a:xfrm>
            <a:off x="3593592" y="2194560"/>
            <a:ext cx="2304288" cy="3931920"/>
          </a:xfrm>
          <a:prstGeom prst="rect">
            <a:avLst/>
          </a:prstGeom>
          <a:noFill/>
        </p:spPr>
        <p:txBody>
          <a:bodyPr wrap="square">
            <a:spAutoFit/>
          </a:bodyPr>
          <a:lstStyle/>
          <a:p>
            <a:pPr>
              <a:defRPr sz="1050">
                <a:solidFill>
                  <a:srgbClr val="E2E8F0"/>
                </a:solidFill>
              </a:defRPr>
            </a:pPr>
            <a:r>
              <a:t>• Admin audits inbound report details</a:t>
            </a:r>
            <a:br/>
            <a:r>
              <a:t>• Verifies authenticity &amp; eliminates spam</a:t>
            </a:r>
            <a:br/>
            <a:r>
              <a:t>• Selects specialized technician from department</a:t>
            </a:r>
            <a:br/>
            <a:r>
              <a:t>• Sets completion deadline date (e.g. 48h)</a:t>
            </a:r>
            <a:br/>
            <a:r>
              <a:t>• Status: 'Approved by Admin' (Stage 2 • 28%)</a:t>
            </a:r>
          </a:p>
        </p:txBody>
      </p:sp>
      <p:sp>
        <p:nvSpPr>
          <p:cNvPr id="12" name="Rounded Rectangle 11"/>
          <p:cNvSpPr/>
          <p:nvPr/>
        </p:nvSpPr>
        <p:spPr>
          <a:xfrm>
            <a:off x="6181344" y="1463040"/>
            <a:ext cx="2578608" cy="4846320"/>
          </a:xfrm>
          <a:prstGeom prst="roundRect">
            <a:avLst/>
          </a:prstGeom>
          <a:solidFill>
            <a:srgbClr val="131D36"/>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291072" y="1572768"/>
            <a:ext cx="2359152" cy="50292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tIns="73152" rtlCol="0" anchor="ctr"/>
          <a:lstStyle/>
          <a:p>
            <a:pPr algn="ctr">
              <a:defRPr sz="1100" b="1">
                <a:solidFill>
                  <a:srgbClr val="FFFFFF"/>
                </a:solidFill>
              </a:defRPr>
            </a:pPr>
            <a:r>
              <a:t>Step 3: Technician Action</a:t>
            </a:r>
          </a:p>
        </p:txBody>
      </p:sp>
      <p:sp>
        <p:nvSpPr>
          <p:cNvPr id="14" name="TextBox 13"/>
          <p:cNvSpPr txBox="1"/>
          <p:nvPr/>
        </p:nvSpPr>
        <p:spPr>
          <a:xfrm>
            <a:off x="6318504" y="2194560"/>
            <a:ext cx="2304288" cy="3931920"/>
          </a:xfrm>
          <a:prstGeom prst="rect">
            <a:avLst/>
          </a:prstGeom>
          <a:noFill/>
        </p:spPr>
        <p:txBody>
          <a:bodyPr wrap="square">
            <a:spAutoFit/>
          </a:bodyPr>
          <a:lstStyle/>
          <a:p>
            <a:pPr>
              <a:defRPr sz="1050">
                <a:solidFill>
                  <a:srgbClr val="E2E8F0"/>
                </a:solidFill>
              </a:defRPr>
            </a:pPr>
            <a:r>
              <a:t>• Technician receives task in private queue</a:t>
            </a:r>
            <a:br/>
            <a:r>
              <a:t>• Can Accept or Decline with recorded reason</a:t>
            </a:r>
            <a:br/>
            <a:r>
              <a:t>• Executes physical repair work on campus</a:t>
            </a:r>
            <a:br/>
            <a:r>
              <a:t>• Uploads photographic proof + resolution note</a:t>
            </a:r>
            <a:br/>
            <a:r>
              <a:t>• Status: 'Work Completed by Tech' (Stage 5 • 71%)</a:t>
            </a:r>
          </a:p>
        </p:txBody>
      </p:sp>
      <p:sp>
        <p:nvSpPr>
          <p:cNvPr id="15" name="Rounded Rectangle 14"/>
          <p:cNvSpPr/>
          <p:nvPr/>
        </p:nvSpPr>
        <p:spPr>
          <a:xfrm>
            <a:off x="8906256" y="1463040"/>
            <a:ext cx="2578608" cy="4846320"/>
          </a:xfrm>
          <a:prstGeom prst="roundRect">
            <a:avLst/>
          </a:prstGeom>
          <a:solidFill>
            <a:srgbClr val="131D3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9015984" y="1572768"/>
            <a:ext cx="2359152" cy="50292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tIns="73152" rtlCol="0" anchor="ctr"/>
          <a:lstStyle/>
          <a:p>
            <a:pPr algn="ctr">
              <a:defRPr sz="1100" b="1">
                <a:solidFill>
                  <a:srgbClr val="FFFFFF"/>
                </a:solidFill>
              </a:defRPr>
            </a:pPr>
            <a:r>
              <a:t>Step 4: Faculty QA Clearance</a:t>
            </a:r>
          </a:p>
        </p:txBody>
      </p:sp>
      <p:sp>
        <p:nvSpPr>
          <p:cNvPr id="17" name="TextBox 16"/>
          <p:cNvSpPr txBox="1"/>
          <p:nvPr/>
        </p:nvSpPr>
        <p:spPr>
          <a:xfrm>
            <a:off x="9043416" y="2194560"/>
            <a:ext cx="2304288" cy="3931920"/>
          </a:xfrm>
          <a:prstGeom prst="rect">
            <a:avLst/>
          </a:prstGeom>
          <a:noFill/>
        </p:spPr>
        <p:txBody>
          <a:bodyPr wrap="square">
            <a:spAutoFit/>
          </a:bodyPr>
          <a:lstStyle/>
          <a:p>
            <a:pPr>
              <a:defRPr sz="1050">
                <a:solidFill>
                  <a:srgbClr val="E2E8F0"/>
                </a:solidFill>
              </a:defRPr>
            </a:pPr>
            <a:r>
              <a:t>• Faculty receives completed work order</a:t>
            </a:r>
            <a:br/>
            <a:r>
              <a:t>• Compares before &amp; after photographic evidence</a:t>
            </a:r>
            <a:br/>
            <a:r>
              <a:t>• Conducts on-site verification audit</a:t>
            </a:r>
            <a:br/>
            <a:r>
              <a:t>• Approves closure or requests technician redo</a:t>
            </a:r>
            <a:br/>
            <a:r>
              <a:t>• Status: 'Completed ✅' (Stage 7 • 100%)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20040"/>
            <a:ext cx="10698480" cy="274320"/>
          </a:xfrm>
          <a:prstGeom prst="rect">
            <a:avLst/>
          </a:prstGeom>
          <a:noFill/>
        </p:spPr>
        <p:txBody>
          <a:bodyPr wrap="square" lIns="0" tIns="0" rIns="0" bIns="0">
            <a:spAutoFit/>
          </a:bodyPr>
          <a:lstStyle/>
          <a:p>
            <a:pPr>
              <a:defRPr sz="1000" b="1">
                <a:solidFill>
                  <a:srgbClr val="06B6D4"/>
                </a:solidFill>
                <a:latin typeface="Calibri"/>
              </a:defRPr>
            </a:pPr>
            <a:r>
              <a:t>CAMPUS CONNECT | WEB ENGINEERING PROJECT</a:t>
            </a:r>
          </a:p>
        </p:txBody>
      </p:sp>
      <p:sp>
        <p:nvSpPr>
          <p:cNvPr id="4" name="TextBox 3"/>
          <p:cNvSpPr txBox="1"/>
          <p:nvPr/>
        </p:nvSpPr>
        <p:spPr>
          <a:xfrm>
            <a:off x="731520" y="594360"/>
            <a:ext cx="10698480" cy="548640"/>
          </a:xfrm>
          <a:prstGeom prst="rect">
            <a:avLst/>
          </a:prstGeom>
          <a:noFill/>
        </p:spPr>
        <p:txBody>
          <a:bodyPr wrap="square" lIns="0" tIns="0" rIns="0" bIns="0">
            <a:spAutoFit/>
          </a:bodyPr>
          <a:lstStyle/>
          <a:p>
            <a:pPr>
              <a:defRPr sz="2200" b="1">
                <a:solidFill>
                  <a:srgbClr val="FFFFFF"/>
                </a:solidFill>
                <a:latin typeface="Segoe UI"/>
              </a:defRPr>
            </a:pPr>
            <a:r>
              <a:t>Technology Stack: HTML5, CSS3, JavaScript &amp; Libraries</a:t>
            </a:r>
          </a:p>
        </p:txBody>
      </p:sp>
      <p:sp>
        <p:nvSpPr>
          <p:cNvPr id="5" name="Rectangle 4"/>
          <p:cNvSpPr/>
          <p:nvPr/>
        </p:nvSpPr>
        <p:spPr>
          <a:xfrm>
            <a:off x="731520" y="1188720"/>
            <a:ext cx="2011680" cy="36576"/>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2057400" cy="4846320"/>
          </a:xfrm>
          <a:prstGeom prst="roundRect">
            <a:avLst/>
          </a:prstGeom>
          <a:solidFill>
            <a:srgbClr val="131D36"/>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22960" y="1600200"/>
            <a:ext cx="1874519" cy="54864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tIns="73152" rtlCol="0" anchor="ctr"/>
          <a:lstStyle/>
          <a:p>
            <a:pPr algn="ctr">
              <a:defRPr sz="1300" b="1">
                <a:solidFill>
                  <a:srgbClr val="FFFFFF"/>
                </a:solidFill>
              </a:defRPr>
            </a:pPr>
            <a:r>
              <a:t>HTML5</a:t>
            </a:r>
          </a:p>
        </p:txBody>
      </p:sp>
      <p:sp>
        <p:nvSpPr>
          <p:cNvPr id="8" name="TextBox 7"/>
          <p:cNvSpPr txBox="1"/>
          <p:nvPr/>
        </p:nvSpPr>
        <p:spPr>
          <a:xfrm>
            <a:off x="822960" y="2240280"/>
            <a:ext cx="1874519" cy="3931920"/>
          </a:xfrm>
          <a:prstGeom prst="rect">
            <a:avLst/>
          </a:prstGeom>
          <a:noFill/>
        </p:spPr>
        <p:txBody>
          <a:bodyPr wrap="square">
            <a:spAutoFit/>
          </a:bodyPr>
          <a:lstStyle/>
          <a:p>
            <a:pPr>
              <a:spcAft>
                <a:spcPts val="800"/>
              </a:spcAft>
              <a:defRPr sz="1100" b="1">
                <a:solidFill>
                  <a:srgbClr val="06B6D4"/>
                </a:solidFill>
              </a:defRPr>
            </a:pPr>
            <a:r>
              <a:t>Structure &amp; Semantics</a:t>
            </a:r>
          </a:p>
          <a:p>
            <a:pPr>
              <a:spcAft>
                <a:spcPts val="1200"/>
              </a:spcAft>
              <a:defRPr sz="1050">
                <a:solidFill>
                  <a:srgbClr val="E2E8F0"/>
                </a:solidFill>
              </a:defRPr>
            </a:pPr>
            <a:r>
              <a:t>Provides clean, accessible, semantic markup for all 5 core pages and interactive modal overlays.</a:t>
            </a:r>
          </a:p>
          <a:p>
            <a:pPr>
              <a:defRPr sz="1050" b="1">
                <a:solidFill>
                  <a:srgbClr val="F59E0B"/>
                </a:solidFill>
              </a:defRPr>
            </a:pPr>
            <a:r>
              <a:t>🏷 HTML → Structure</a:t>
            </a:r>
          </a:p>
        </p:txBody>
      </p:sp>
      <p:sp>
        <p:nvSpPr>
          <p:cNvPr id="9" name="Rounded Rectangle 8"/>
          <p:cNvSpPr/>
          <p:nvPr/>
        </p:nvSpPr>
        <p:spPr>
          <a:xfrm>
            <a:off x="2907791" y="1463040"/>
            <a:ext cx="2057400" cy="4846320"/>
          </a:xfrm>
          <a:prstGeom prst="roundRect">
            <a:avLst/>
          </a:prstGeom>
          <a:solidFill>
            <a:srgbClr val="131D36"/>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2999231" y="1600200"/>
            <a:ext cx="1874519" cy="54864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tIns="73152" rtlCol="0" anchor="ctr"/>
          <a:lstStyle/>
          <a:p>
            <a:pPr algn="ctr">
              <a:defRPr sz="1300" b="1">
                <a:solidFill>
                  <a:srgbClr val="FFFFFF"/>
                </a:solidFill>
              </a:defRPr>
            </a:pPr>
            <a:r>
              <a:t>CSS3 &amp; Tailwind</a:t>
            </a:r>
          </a:p>
        </p:txBody>
      </p:sp>
      <p:sp>
        <p:nvSpPr>
          <p:cNvPr id="11" name="TextBox 10"/>
          <p:cNvSpPr txBox="1"/>
          <p:nvPr/>
        </p:nvSpPr>
        <p:spPr>
          <a:xfrm>
            <a:off x="2999231" y="2240280"/>
            <a:ext cx="1874519" cy="3931920"/>
          </a:xfrm>
          <a:prstGeom prst="rect">
            <a:avLst/>
          </a:prstGeom>
          <a:noFill/>
        </p:spPr>
        <p:txBody>
          <a:bodyPr wrap="square">
            <a:spAutoFit/>
          </a:bodyPr>
          <a:lstStyle/>
          <a:p>
            <a:pPr>
              <a:spcAft>
                <a:spcPts val="800"/>
              </a:spcAft>
              <a:defRPr sz="1100" b="1">
                <a:solidFill>
                  <a:srgbClr val="06B6D4"/>
                </a:solidFill>
              </a:defRPr>
            </a:pPr>
            <a:r>
              <a:t>Styling &amp; Responsive Layout</a:t>
            </a:r>
          </a:p>
          <a:p>
            <a:pPr>
              <a:spcAft>
                <a:spcPts val="1200"/>
              </a:spcAft>
              <a:defRPr sz="1050">
                <a:solidFill>
                  <a:srgbClr val="E2E8F0"/>
                </a:solidFill>
              </a:defRPr>
            </a:pPr>
            <a:r>
              <a:t>Custom glassmorphism design system, dark/light themes, responsive grid, and aurora glow visual effects.</a:t>
            </a:r>
          </a:p>
          <a:p>
            <a:pPr>
              <a:defRPr sz="1050" b="1">
                <a:solidFill>
                  <a:srgbClr val="06B6D4"/>
                </a:solidFill>
              </a:defRPr>
            </a:pPr>
            <a:r>
              <a:t>🏷 CSS → Styling &amp; UI</a:t>
            </a:r>
          </a:p>
        </p:txBody>
      </p:sp>
      <p:sp>
        <p:nvSpPr>
          <p:cNvPr id="12" name="Rounded Rectangle 11"/>
          <p:cNvSpPr/>
          <p:nvPr/>
        </p:nvSpPr>
        <p:spPr>
          <a:xfrm>
            <a:off x="5084064" y="1463040"/>
            <a:ext cx="2057400" cy="4846320"/>
          </a:xfrm>
          <a:prstGeom prst="roundRect">
            <a:avLst/>
          </a:prstGeom>
          <a:solidFill>
            <a:srgbClr val="131D36"/>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175504" y="1600200"/>
            <a:ext cx="1874519" cy="54864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tIns="73152" rtlCol="0" anchor="ctr"/>
          <a:lstStyle/>
          <a:p>
            <a:pPr algn="ctr">
              <a:defRPr sz="1300" b="1">
                <a:solidFill>
                  <a:srgbClr val="FFFFFF"/>
                </a:solidFill>
              </a:defRPr>
            </a:pPr>
            <a:r>
              <a:t>JavaScript ES6+</a:t>
            </a:r>
          </a:p>
        </p:txBody>
      </p:sp>
      <p:sp>
        <p:nvSpPr>
          <p:cNvPr id="14" name="TextBox 13"/>
          <p:cNvSpPr txBox="1"/>
          <p:nvPr/>
        </p:nvSpPr>
        <p:spPr>
          <a:xfrm>
            <a:off x="5175504" y="2240280"/>
            <a:ext cx="1874519" cy="3931920"/>
          </a:xfrm>
          <a:prstGeom prst="rect">
            <a:avLst/>
          </a:prstGeom>
          <a:noFill/>
        </p:spPr>
        <p:txBody>
          <a:bodyPr wrap="square">
            <a:spAutoFit/>
          </a:bodyPr>
          <a:lstStyle/>
          <a:p>
            <a:pPr>
              <a:spcAft>
                <a:spcPts val="800"/>
              </a:spcAft>
              <a:defRPr sz="1100" b="1">
                <a:solidFill>
                  <a:srgbClr val="06B6D4"/>
                </a:solidFill>
              </a:defRPr>
            </a:pPr>
            <a:r>
              <a:t>Logic &amp; Interactivity</a:t>
            </a:r>
          </a:p>
          <a:p>
            <a:pPr>
              <a:spcAft>
                <a:spcPts val="1200"/>
              </a:spcAft>
              <a:defRPr sz="1050">
                <a:solidFill>
                  <a:srgbClr val="E2E8F0"/>
                </a:solidFill>
              </a:defRPr>
            </a:pPr>
            <a:r>
              <a:t>Handles asynchronous events, LocalStorage state management, form validations, dynamic routing, and DOM updates.</a:t>
            </a:r>
          </a:p>
          <a:p>
            <a:pPr>
              <a:defRPr sz="1050" b="1">
                <a:solidFill>
                  <a:srgbClr val="7C3AED"/>
                </a:solidFill>
              </a:defRPr>
            </a:pPr>
            <a:r>
              <a:t>🏷 JS → Functionality</a:t>
            </a:r>
          </a:p>
        </p:txBody>
      </p:sp>
      <p:sp>
        <p:nvSpPr>
          <p:cNvPr id="15" name="Rounded Rectangle 14"/>
          <p:cNvSpPr/>
          <p:nvPr/>
        </p:nvSpPr>
        <p:spPr>
          <a:xfrm>
            <a:off x="7260336" y="1463040"/>
            <a:ext cx="2057400" cy="4846320"/>
          </a:xfrm>
          <a:prstGeom prst="roundRect">
            <a:avLst/>
          </a:prstGeom>
          <a:solidFill>
            <a:srgbClr val="131D36"/>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351776" y="1600200"/>
            <a:ext cx="1874519" cy="5486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tIns="73152" rtlCol="0" anchor="ctr"/>
          <a:lstStyle/>
          <a:p>
            <a:pPr algn="ctr">
              <a:defRPr sz="1300" b="1">
                <a:solidFill>
                  <a:srgbClr val="FFFFFF"/>
                </a:solidFill>
              </a:defRPr>
            </a:pPr>
            <a:r>
              <a:t>Chart.js</a:t>
            </a:r>
          </a:p>
        </p:txBody>
      </p:sp>
      <p:sp>
        <p:nvSpPr>
          <p:cNvPr id="17" name="TextBox 16"/>
          <p:cNvSpPr txBox="1"/>
          <p:nvPr/>
        </p:nvSpPr>
        <p:spPr>
          <a:xfrm>
            <a:off x="7351776" y="2240280"/>
            <a:ext cx="1874519" cy="3931920"/>
          </a:xfrm>
          <a:prstGeom prst="rect">
            <a:avLst/>
          </a:prstGeom>
          <a:noFill/>
        </p:spPr>
        <p:txBody>
          <a:bodyPr wrap="square">
            <a:spAutoFit/>
          </a:bodyPr>
          <a:lstStyle/>
          <a:p>
            <a:pPr>
              <a:spcAft>
                <a:spcPts val="800"/>
              </a:spcAft>
              <a:defRPr sz="1100" b="1">
                <a:solidFill>
                  <a:srgbClr val="06B6D4"/>
                </a:solidFill>
              </a:defRPr>
            </a:pPr>
            <a:r>
              <a:t>Analytics &amp; Visuals</a:t>
            </a:r>
          </a:p>
          <a:p>
            <a:pPr>
              <a:spcAft>
                <a:spcPts val="1200"/>
              </a:spcAft>
              <a:defRPr sz="1050">
                <a:solidFill>
                  <a:srgbClr val="E2E8F0"/>
                </a:solidFill>
              </a:defRPr>
            </a:pPr>
            <a:r>
              <a:t>Renders interactive doughnut, line, and bar charts for administrative monitoring and department ticket distribution.</a:t>
            </a:r>
          </a:p>
          <a:p>
            <a:pPr>
              <a:defRPr sz="1050" b="1">
                <a:solidFill>
                  <a:srgbClr val="2563EB"/>
                </a:solidFill>
              </a:defRPr>
            </a:pPr>
            <a:r>
              <a:t>🏷 Charts → Analytics</a:t>
            </a:r>
          </a:p>
        </p:txBody>
      </p:sp>
      <p:sp>
        <p:nvSpPr>
          <p:cNvPr id="18" name="Rounded Rectangle 17"/>
          <p:cNvSpPr/>
          <p:nvPr/>
        </p:nvSpPr>
        <p:spPr>
          <a:xfrm>
            <a:off x="9436608" y="1463040"/>
            <a:ext cx="2057400" cy="4846320"/>
          </a:xfrm>
          <a:prstGeom prst="roundRect">
            <a:avLst/>
          </a:prstGeom>
          <a:solidFill>
            <a:srgbClr val="131D3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9528048" y="1600200"/>
            <a:ext cx="1874519" cy="54864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tIns="73152" rtlCol="0" anchor="ctr"/>
          <a:lstStyle/>
          <a:p>
            <a:pPr algn="ctr">
              <a:defRPr sz="1300" b="1">
                <a:solidFill>
                  <a:srgbClr val="FFFFFF"/>
                </a:solidFill>
              </a:defRPr>
            </a:pPr>
            <a:r>
              <a:t>FontAwesome &amp; Fonts</a:t>
            </a:r>
          </a:p>
        </p:txBody>
      </p:sp>
      <p:sp>
        <p:nvSpPr>
          <p:cNvPr id="20" name="TextBox 19"/>
          <p:cNvSpPr txBox="1"/>
          <p:nvPr/>
        </p:nvSpPr>
        <p:spPr>
          <a:xfrm>
            <a:off x="9528048" y="2240280"/>
            <a:ext cx="1874519" cy="3931920"/>
          </a:xfrm>
          <a:prstGeom prst="rect">
            <a:avLst/>
          </a:prstGeom>
          <a:noFill/>
        </p:spPr>
        <p:txBody>
          <a:bodyPr wrap="square">
            <a:spAutoFit/>
          </a:bodyPr>
          <a:lstStyle/>
          <a:p>
            <a:pPr>
              <a:spcAft>
                <a:spcPts val="800"/>
              </a:spcAft>
              <a:defRPr sz="1100" b="1">
                <a:solidFill>
                  <a:srgbClr val="06B6D4"/>
                </a:solidFill>
              </a:defRPr>
            </a:pPr>
            <a:r>
              <a:t>Visual Cues &amp; Typography</a:t>
            </a:r>
          </a:p>
          <a:p>
            <a:pPr>
              <a:spcAft>
                <a:spcPts val="1200"/>
              </a:spcAft>
              <a:defRPr sz="1050">
                <a:solidFill>
                  <a:srgbClr val="E2E8F0"/>
                </a:solidFill>
              </a:defRPr>
            </a:pPr>
            <a:r>
              <a:t>FontAwesome 6 icons and Google Fonts (Outfit, Inter) provide modern, polished visual hierarchy.</a:t>
            </a:r>
          </a:p>
          <a:p>
            <a:pPr>
              <a:defRPr sz="1050" b="1">
                <a:solidFill>
                  <a:srgbClr val="10B981"/>
                </a:solidFill>
              </a:defRPr>
            </a:pPr>
            <a:r>
              <a:t>🏷 UI → Aesthetics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20040"/>
            <a:ext cx="10698480" cy="274320"/>
          </a:xfrm>
          <a:prstGeom prst="rect">
            <a:avLst/>
          </a:prstGeom>
          <a:noFill/>
        </p:spPr>
        <p:txBody>
          <a:bodyPr wrap="square" lIns="0" tIns="0" rIns="0" bIns="0">
            <a:spAutoFit/>
          </a:bodyPr>
          <a:lstStyle/>
          <a:p>
            <a:pPr>
              <a:defRPr sz="1000" b="1">
                <a:solidFill>
                  <a:srgbClr val="06B6D4"/>
                </a:solidFill>
                <a:latin typeface="Calibri"/>
              </a:defRPr>
            </a:pPr>
            <a:r>
              <a:t>CAMPUS CONNECT | WEB ENGINEERING PROJECT</a:t>
            </a:r>
          </a:p>
        </p:txBody>
      </p:sp>
      <p:sp>
        <p:nvSpPr>
          <p:cNvPr id="4" name="TextBox 3"/>
          <p:cNvSpPr txBox="1"/>
          <p:nvPr/>
        </p:nvSpPr>
        <p:spPr>
          <a:xfrm>
            <a:off x="731520" y="594360"/>
            <a:ext cx="10698480" cy="548640"/>
          </a:xfrm>
          <a:prstGeom prst="rect">
            <a:avLst/>
          </a:prstGeom>
          <a:noFill/>
        </p:spPr>
        <p:txBody>
          <a:bodyPr wrap="square" lIns="0" tIns="0" rIns="0" bIns="0">
            <a:spAutoFit/>
          </a:bodyPr>
          <a:lstStyle/>
          <a:p>
            <a:pPr>
              <a:defRPr sz="2200" b="1">
                <a:solidFill>
                  <a:srgbClr val="FFFFFF"/>
                </a:solidFill>
                <a:latin typeface="Segoe UI"/>
              </a:defRPr>
            </a:pPr>
            <a:r>
              <a:t>Project Architecture &amp; Directory Structure</a:t>
            </a:r>
          </a:p>
        </p:txBody>
      </p:sp>
      <p:sp>
        <p:nvSpPr>
          <p:cNvPr id="5" name="Rectangle 4"/>
          <p:cNvSpPr/>
          <p:nvPr/>
        </p:nvSpPr>
        <p:spPr>
          <a:xfrm>
            <a:off x="731520" y="1188720"/>
            <a:ext cx="2011680" cy="36576"/>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5120640" cy="4846320"/>
          </a:xfrm>
          <a:prstGeom prst="roundRect">
            <a:avLst/>
          </a:prstGeom>
          <a:solidFill>
            <a:srgbClr val="131D36"/>
          </a:solidFill>
          <a:ln>
            <a:solidFill>
              <a:srgbClr val="27355A"/>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spcAft>
                <a:spcPts val="800"/>
              </a:spcAft>
              <a:defRPr sz="1200" b="1">
                <a:solidFill>
                  <a:srgbClr val="06B6D4"/>
                </a:solidFill>
              </a:defRPr>
            </a:pPr>
            <a:r>
              <a:t>DIRECTORY &amp; FILE STRUCTURE</a:t>
            </a:r>
          </a:p>
          <a:p>
            <a:pPr>
              <a:defRPr sz="950">
                <a:solidFill>
                  <a:srgbClr val="E2E8F0"/>
                </a:solidFill>
                <a:latin typeface="Consolas"/>
              </a:defRPr>
            </a:pPr>
            <a:r>
              <a:t>Campus---Connect/</a:t>
            </a:r>
            <a:br/>
            <a:r>
              <a:t>├── index.html        (Landing &amp; Overview)</a:t>
            </a:r>
            <a:br/>
            <a:r>
              <a:t>├── login.html        (4-Role Portal Authentication)</a:t>
            </a:r>
            <a:br/>
            <a:r>
              <a:t>├── portal.html       (Student Complaint Filing)</a:t>
            </a:r>
            <a:br/>
            <a:r>
              <a:t>├── roles.html        (Dashboards: Stu/Admin/Tech/Fac)</a:t>
            </a:r>
            <a:br/>
            <a:r>
              <a:t>├── feed.html         (Public Transparency Feed)</a:t>
            </a:r>
            <a:br/>
            <a:r>
              <a:t>│</a:t>
            </a:r>
            <a:br/>
            <a:r>
              <a:t>├── css/</a:t>
            </a:r>
            <a:br/>
            <a:r>
              <a:t>│   ├── style.css     (Global Theme &amp; Tokens)</a:t>
            </a:r>
            <a:br/>
            <a:r>
              <a:t>│   ├── home.css      (Landing Animations)</a:t>
            </a:r>
            <a:br/>
            <a:r>
              <a:t>│   ├── login.css     (Auth Form Styling)</a:t>
            </a:r>
            <a:br/>
            <a:r>
              <a:t>│   ├── portal.css    (Filing Form Layouts)</a:t>
            </a:r>
            <a:br/>
            <a:r>
              <a:t>│   ├── roles.css     (Dashboard Grids)</a:t>
            </a:r>
            <a:br/>
            <a:r>
              <a:t>│   └── feed.css      (Feed Filters &amp; Cards)</a:t>
            </a:r>
            <a:br/>
            <a:r>
              <a:t>│</a:t>
            </a:r>
            <a:br/>
            <a:r>
              <a:t>├── js/</a:t>
            </a:r>
            <a:br/>
            <a:r>
              <a:t>│   ├── main.js       (Database Seed &amp; Stage Helpers)</a:t>
            </a:r>
            <a:br/>
            <a:r>
              <a:t>│   ├── login.js      (Auth &amp; Session Tokens)</a:t>
            </a:r>
            <a:br/>
            <a:r>
              <a:t>│   ├── portal.js     (Complaint Submission Engine)</a:t>
            </a:r>
            <a:br/>
            <a:r>
              <a:t>│   ├── roles.js      (Role Workspaces &amp; QA Logic)</a:t>
            </a:r>
            <a:br/>
            <a:r>
              <a:t>│   ├── feed.js       (Feed Rendering &amp; Search)</a:t>
            </a:r>
            <a:br/>
            <a:r>
              <a:t>│   └── animations.js (3D Tilt &amp; Scroll Reveals)</a:t>
            </a:r>
            <a:br/>
            <a:r>
              <a:t>└── assets/           (Screenshots, Icons, Logos)</a:t>
            </a:r>
          </a:p>
        </p:txBody>
      </p:sp>
      <p:sp>
        <p:nvSpPr>
          <p:cNvPr id="7" name="Rounded Rectangle 6"/>
          <p:cNvSpPr/>
          <p:nvPr/>
        </p:nvSpPr>
        <p:spPr>
          <a:xfrm>
            <a:off x="6217920" y="1463040"/>
            <a:ext cx="5212080" cy="4846320"/>
          </a:xfrm>
          <a:prstGeom prst="roundRect">
            <a:avLst/>
          </a:prstGeom>
          <a:solidFill>
            <a:srgbClr val="131D36"/>
          </a:solidFill>
          <a:ln>
            <a:solidFill>
              <a:srgbClr val="27355A"/>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spcAft>
                <a:spcPts val="800"/>
              </a:spcAft>
              <a:defRPr sz="1200" b="1">
                <a:solidFill>
                  <a:srgbClr val="7C3AED"/>
                </a:solidFill>
              </a:defRPr>
            </a:pPr>
            <a:r>
              <a:t>MODULAR DESIGN PRINCIPLES</a:t>
            </a:r>
          </a:p>
          <a:p>
            <a:pPr>
              <a:defRPr sz="1100" b="1">
                <a:solidFill>
                  <a:srgbClr val="06B6D4"/>
                </a:solidFill>
              </a:defRPr>
            </a:pPr>
            <a:r>
              <a:t>✔ Separation of Concerns</a:t>
            </a:r>
          </a:p>
          <a:p>
            <a:pPr>
              <a:spcAft>
                <a:spcPts val="600"/>
              </a:spcAft>
              <a:defRPr sz="1050">
                <a:solidFill>
                  <a:srgbClr val="E2E8F0"/>
                </a:solidFill>
              </a:defRPr>
            </a:pPr>
            <a:r>
              <a:t>HTML files define structure, dedicated CSS files control page-specific visuals, and modular JS files manage business logic.</a:t>
            </a:r>
          </a:p>
          <a:p>
            <a:pPr>
              <a:defRPr sz="1100" b="1">
                <a:solidFill>
                  <a:srgbClr val="06B6D4"/>
                </a:solidFill>
              </a:defRPr>
            </a:pPr>
            <a:r>
              <a:t>✔ State Management in main.js</a:t>
            </a:r>
          </a:p>
          <a:p>
            <a:pPr>
              <a:spcAft>
                <a:spcPts val="600"/>
              </a:spcAft>
              <a:defRPr sz="1050">
                <a:solidFill>
                  <a:srgbClr val="E2E8F0"/>
                </a:solidFill>
              </a:defRPr>
            </a:pPr>
            <a:r>
              <a:t>A unified data repository and state-machine helper (getComplaintStageInfo) ensures consistent status evaluation across all pages.</a:t>
            </a:r>
          </a:p>
          <a:p>
            <a:pPr>
              <a:defRPr sz="1100" b="1">
                <a:solidFill>
                  <a:srgbClr val="06B6D4"/>
                </a:solidFill>
              </a:defRPr>
            </a:pPr>
            <a:r>
              <a:t>✔ Security &amp; Session SLA</a:t>
            </a:r>
          </a:p>
          <a:p>
            <a:pPr>
              <a:spcAft>
                <a:spcPts val="600"/>
              </a:spcAft>
              <a:defRPr sz="1050">
                <a:solidFill>
                  <a:srgbClr val="E2E8F0"/>
                </a:solidFill>
              </a:defRPr>
            </a:pPr>
            <a:r>
              <a:t>Local storage sessions include a 15-minute SLA timer and automatic logout to prevent unauthorized access on shared campus computers.</a:t>
            </a:r>
          </a:p>
          <a:p>
            <a:pPr>
              <a:defRPr sz="1100" b="1">
                <a:solidFill>
                  <a:srgbClr val="06B6D4"/>
                </a:solidFill>
              </a:defRPr>
            </a:pPr>
            <a:r>
              <a:t>✔ Reusable Component Architecture</a:t>
            </a:r>
          </a:p>
          <a:p>
            <a:pPr>
              <a:spcAft>
                <a:spcPts val="600"/>
              </a:spcAft>
              <a:defRPr sz="1050">
                <a:solidFill>
                  <a:srgbClr val="E2E8F0"/>
                </a:solidFill>
              </a:defRPr>
            </a:pPr>
            <a:r>
              <a:t>Shared navigation bars, modals, lightboxes, and toast notification systems are reused across all pages.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20040"/>
            <a:ext cx="10698480" cy="274320"/>
          </a:xfrm>
          <a:prstGeom prst="rect">
            <a:avLst/>
          </a:prstGeom>
          <a:noFill/>
        </p:spPr>
        <p:txBody>
          <a:bodyPr wrap="square" lIns="0" tIns="0" rIns="0" bIns="0">
            <a:spAutoFit/>
          </a:bodyPr>
          <a:lstStyle/>
          <a:p>
            <a:pPr>
              <a:defRPr sz="1000" b="1">
                <a:solidFill>
                  <a:srgbClr val="06B6D4"/>
                </a:solidFill>
                <a:latin typeface="Calibri"/>
              </a:defRPr>
            </a:pPr>
            <a:r>
              <a:t>CAMPUS CONNECT | WEB ENGINEERING PROJECT</a:t>
            </a:r>
          </a:p>
        </p:txBody>
      </p:sp>
      <p:sp>
        <p:nvSpPr>
          <p:cNvPr id="4" name="TextBox 3"/>
          <p:cNvSpPr txBox="1"/>
          <p:nvPr/>
        </p:nvSpPr>
        <p:spPr>
          <a:xfrm>
            <a:off x="731520" y="594360"/>
            <a:ext cx="10698480" cy="548640"/>
          </a:xfrm>
          <a:prstGeom prst="rect">
            <a:avLst/>
          </a:prstGeom>
          <a:noFill/>
        </p:spPr>
        <p:txBody>
          <a:bodyPr wrap="square" lIns="0" tIns="0" rIns="0" bIns="0">
            <a:spAutoFit/>
          </a:bodyPr>
          <a:lstStyle/>
          <a:p>
            <a:pPr>
              <a:defRPr sz="2200" b="1">
                <a:solidFill>
                  <a:srgbClr val="FFFFFF"/>
                </a:solidFill>
                <a:latin typeface="Segoe UI"/>
              </a:defRPr>
            </a:pPr>
            <a:r>
              <a:t>Home / Landing Page (index.html)</a:t>
            </a:r>
          </a:p>
        </p:txBody>
      </p:sp>
      <p:sp>
        <p:nvSpPr>
          <p:cNvPr id="5" name="Rectangle 4"/>
          <p:cNvSpPr/>
          <p:nvPr/>
        </p:nvSpPr>
        <p:spPr>
          <a:xfrm>
            <a:off x="731520" y="1188720"/>
            <a:ext cx="2011680" cy="36576"/>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76656" y="1408176"/>
            <a:ext cx="6327648" cy="4956048"/>
          </a:xfrm>
          <a:prstGeom prst="roundRect">
            <a:avLst/>
          </a:prstGeom>
          <a:solidFill>
            <a:srgbClr val="131D36"/>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home.png"/>
          <p:cNvPicPr>
            <a:picLocks noChangeAspect="1"/>
          </p:cNvPicPr>
          <p:nvPr/>
        </p:nvPicPr>
        <p:blipFill>
          <a:blip r:embed="rId3"/>
          <a:stretch>
            <a:fillRect/>
          </a:stretch>
        </p:blipFill>
        <p:spPr>
          <a:xfrm>
            <a:off x="731520" y="1463040"/>
            <a:ext cx="6217920" cy="4846320"/>
          </a:xfrm>
          <a:prstGeom prst="rect">
            <a:avLst/>
          </a:prstGeom>
        </p:spPr>
      </p:pic>
      <p:sp>
        <p:nvSpPr>
          <p:cNvPr id="8" name="Rounded Rectangle 7"/>
          <p:cNvSpPr/>
          <p:nvPr/>
        </p:nvSpPr>
        <p:spPr>
          <a:xfrm>
            <a:off x="7223760" y="1463040"/>
            <a:ext cx="4206240" cy="4846320"/>
          </a:xfrm>
          <a:prstGeom prst="roundRect">
            <a:avLst/>
          </a:prstGeom>
          <a:solidFill>
            <a:srgbClr val="131D36"/>
          </a:solidFill>
          <a:ln>
            <a:solidFill>
              <a:srgbClr val="2563EB"/>
            </a:solidFill>
          </a:ln>
        </p:spPr>
        <p:style>
          <a:lnRef idx="1">
            <a:schemeClr val="accent1"/>
          </a:lnRef>
          <a:fillRef idx="3">
            <a:schemeClr val="accent1"/>
          </a:fillRef>
          <a:effectRef idx="2">
            <a:schemeClr val="accent1"/>
          </a:effectRef>
          <a:fontRef idx="minor">
            <a:schemeClr val="lt1"/>
          </a:fontRef>
        </p:style>
        <p:txBody>
          <a:bodyPr wrap="square" lIns="228600" tIns="228600" rtlCol="0" anchor="ctr"/>
          <a:lstStyle/>
          <a:p>
            <a:pPr algn="ctr">
              <a:spcAft>
                <a:spcPts val="1000"/>
              </a:spcAft>
              <a:defRPr sz="1300" b="1">
                <a:solidFill>
                  <a:srgbClr val="06B6D4"/>
                </a:solidFill>
              </a:defRPr>
            </a:pPr>
            <a:r>
              <a:t>HOMEPAGE KEY CAPABILITIES</a:t>
            </a:r>
          </a:p>
          <a:p>
            <a:pPr>
              <a:defRPr sz="1100" b="1">
                <a:solidFill>
                  <a:srgbClr val="FFFFFF"/>
                </a:solidFill>
              </a:defRPr>
            </a:pPr>
            <a:r>
              <a:t>• Institutional Hero Section</a:t>
            </a:r>
          </a:p>
          <a:p>
            <a:pPr>
              <a:spcAft>
                <a:spcPts val="600"/>
              </a:spcAft>
              <a:defRPr sz="1000">
                <a:solidFill>
                  <a:srgbClr val="E2E8F0"/>
                </a:solidFill>
              </a:defRPr>
            </a:pPr>
            <a:r>
              <a:t>Clear branding and immediate call-to-action buttons ('File Campus Complaint' &amp; 'How It Works').</a:t>
            </a:r>
          </a:p>
          <a:p>
            <a:pPr>
              <a:defRPr sz="1100" b="1">
                <a:solidFill>
                  <a:srgbClr val="FFFFFF"/>
                </a:solidFill>
              </a:defRPr>
            </a:pPr>
            <a:r>
              <a:t>• Emergency Hazard Banner</a:t>
            </a:r>
          </a:p>
          <a:p>
            <a:pPr>
              <a:spcAft>
                <a:spcPts val="600"/>
              </a:spcAft>
              <a:defRPr sz="1000">
                <a:solidFill>
                  <a:srgbClr val="E2E8F0"/>
                </a:solidFill>
              </a:defRPr>
            </a:pPr>
            <a:r>
              <a:t>High-visibility trigger for immediate hazard reporting (open wires, sparks).</a:t>
            </a:r>
          </a:p>
          <a:p>
            <a:pPr>
              <a:defRPr sz="1100" b="1">
                <a:solidFill>
                  <a:srgbClr val="FFFFFF"/>
                </a:solidFill>
              </a:defRPr>
            </a:pPr>
            <a:r>
              <a:t>• Feature Showcase Cards</a:t>
            </a:r>
          </a:p>
          <a:p>
            <a:pPr>
              <a:spcAft>
                <a:spcPts val="600"/>
              </a:spcAft>
              <a:defRPr sz="1000">
                <a:solidFill>
                  <a:srgbClr val="E2E8F0"/>
                </a:solidFill>
              </a:defRPr>
            </a:pPr>
            <a:r>
              <a:t>Interactive 3D-tilt cards detailing AI hazard detection, technician dispatch, and verified proof.</a:t>
            </a:r>
          </a:p>
          <a:p>
            <a:pPr>
              <a:defRPr sz="1100" b="1">
                <a:solidFill>
                  <a:srgbClr val="FFFFFF"/>
                </a:solidFill>
              </a:defRPr>
            </a:pPr>
            <a:r>
              <a:t>• Dark / Light Mode Switcher</a:t>
            </a:r>
          </a:p>
          <a:p>
            <a:pPr>
              <a:spcAft>
                <a:spcPts val="600"/>
              </a:spcAft>
              <a:defRPr sz="1000">
                <a:solidFill>
                  <a:srgbClr val="E2E8F0"/>
                </a:solidFill>
              </a:defRPr>
            </a:pPr>
            <a:r>
              <a:t>Instant theme toggle with smooth CSS transitions across the entire DOM.</a:t>
            </a:r>
          </a:p>
          <a:p>
            <a:pPr>
              <a:defRPr sz="1100" b="1">
                <a:solidFill>
                  <a:srgbClr val="FFFFFF"/>
                </a:solidFill>
              </a:defRPr>
            </a:pPr>
            <a:r>
              <a:t>• Responsive Navigation</a:t>
            </a:r>
          </a:p>
          <a:p>
            <a:pPr>
              <a:spcAft>
                <a:spcPts val="600"/>
              </a:spcAft>
              <a:defRPr sz="1000">
                <a:solidFill>
                  <a:srgbClr val="E2E8F0"/>
                </a:solidFill>
              </a:defRPr>
            </a:pPr>
            <a:r>
              <a:t>Universal navigation bar with links to Portal, Dashboards, Feed, and Login.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20040"/>
            <a:ext cx="10698480" cy="274320"/>
          </a:xfrm>
          <a:prstGeom prst="rect">
            <a:avLst/>
          </a:prstGeom>
          <a:noFill/>
        </p:spPr>
        <p:txBody>
          <a:bodyPr wrap="square" lIns="0" tIns="0" rIns="0" bIns="0">
            <a:spAutoFit/>
          </a:bodyPr>
          <a:lstStyle/>
          <a:p>
            <a:pPr>
              <a:defRPr sz="1000" b="1">
                <a:solidFill>
                  <a:srgbClr val="06B6D4"/>
                </a:solidFill>
                <a:latin typeface="Calibri"/>
              </a:defRPr>
            </a:pPr>
            <a:r>
              <a:t>CAMPUS CONNECT | WEB ENGINEERING PROJECT</a:t>
            </a:r>
          </a:p>
        </p:txBody>
      </p:sp>
      <p:sp>
        <p:nvSpPr>
          <p:cNvPr id="4" name="TextBox 3"/>
          <p:cNvSpPr txBox="1"/>
          <p:nvPr/>
        </p:nvSpPr>
        <p:spPr>
          <a:xfrm>
            <a:off x="731520" y="594360"/>
            <a:ext cx="10698480" cy="548640"/>
          </a:xfrm>
          <a:prstGeom prst="rect">
            <a:avLst/>
          </a:prstGeom>
          <a:noFill/>
        </p:spPr>
        <p:txBody>
          <a:bodyPr wrap="square" lIns="0" tIns="0" rIns="0" bIns="0">
            <a:spAutoFit/>
          </a:bodyPr>
          <a:lstStyle/>
          <a:p>
            <a:pPr>
              <a:defRPr sz="2200" b="1">
                <a:solidFill>
                  <a:srgbClr val="FFFFFF"/>
                </a:solidFill>
                <a:latin typeface="Segoe UI"/>
              </a:defRPr>
            </a:pPr>
            <a:r>
              <a:t>Authentication &amp; Role Login (login.html)</a:t>
            </a:r>
          </a:p>
        </p:txBody>
      </p:sp>
      <p:sp>
        <p:nvSpPr>
          <p:cNvPr id="5" name="Rectangle 4"/>
          <p:cNvSpPr/>
          <p:nvPr/>
        </p:nvSpPr>
        <p:spPr>
          <a:xfrm>
            <a:off x="731520" y="1188720"/>
            <a:ext cx="2011680" cy="36576"/>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76656" y="1408176"/>
            <a:ext cx="6327648" cy="4956048"/>
          </a:xfrm>
          <a:prstGeom prst="roundRect">
            <a:avLst/>
          </a:prstGeom>
          <a:solidFill>
            <a:srgbClr val="131D36"/>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login.png"/>
          <p:cNvPicPr>
            <a:picLocks noChangeAspect="1"/>
          </p:cNvPicPr>
          <p:nvPr/>
        </p:nvPicPr>
        <p:blipFill>
          <a:blip r:embed="rId3"/>
          <a:stretch>
            <a:fillRect/>
          </a:stretch>
        </p:blipFill>
        <p:spPr>
          <a:xfrm>
            <a:off x="731520" y="1463040"/>
            <a:ext cx="6217920" cy="4846320"/>
          </a:xfrm>
          <a:prstGeom prst="rect">
            <a:avLst/>
          </a:prstGeom>
        </p:spPr>
      </p:pic>
      <p:sp>
        <p:nvSpPr>
          <p:cNvPr id="8" name="Rounded Rectangle 7"/>
          <p:cNvSpPr/>
          <p:nvPr/>
        </p:nvSpPr>
        <p:spPr>
          <a:xfrm>
            <a:off x="7223760" y="1463040"/>
            <a:ext cx="4206240" cy="4846320"/>
          </a:xfrm>
          <a:prstGeom prst="roundRect">
            <a:avLst/>
          </a:prstGeom>
          <a:solidFill>
            <a:srgbClr val="131D36"/>
          </a:solidFill>
          <a:ln>
            <a:solidFill>
              <a:srgbClr val="7C3AED"/>
            </a:solidFill>
          </a:ln>
        </p:spPr>
        <p:style>
          <a:lnRef idx="1">
            <a:schemeClr val="accent1"/>
          </a:lnRef>
          <a:fillRef idx="3">
            <a:schemeClr val="accent1"/>
          </a:fillRef>
          <a:effectRef idx="2">
            <a:schemeClr val="accent1"/>
          </a:effectRef>
          <a:fontRef idx="minor">
            <a:schemeClr val="lt1"/>
          </a:fontRef>
        </p:style>
        <p:txBody>
          <a:bodyPr wrap="square" lIns="228600" tIns="228600" rtlCol="0" anchor="ctr"/>
          <a:lstStyle/>
          <a:p>
            <a:pPr algn="ctr">
              <a:spcAft>
                <a:spcPts val="1000"/>
              </a:spcAft>
              <a:defRPr sz="1300" b="1">
                <a:solidFill>
                  <a:srgbClr val="06B6D4"/>
                </a:solidFill>
              </a:defRPr>
            </a:pPr>
            <a:r>
              <a:t>AUTHENTICATION FEATURES</a:t>
            </a:r>
          </a:p>
          <a:p>
            <a:pPr>
              <a:defRPr sz="1100" b="1">
                <a:solidFill>
                  <a:srgbClr val="FFFFFF"/>
                </a:solidFill>
              </a:defRPr>
            </a:pPr>
            <a:r>
              <a:t>• 4-Role Portal Switcher</a:t>
            </a:r>
          </a:p>
          <a:p>
            <a:pPr>
              <a:spcAft>
                <a:spcPts val="600"/>
              </a:spcAft>
              <a:defRPr sz="1000">
                <a:solidFill>
                  <a:srgbClr val="E2E8F0"/>
                </a:solidFill>
              </a:defRPr>
            </a:pPr>
            <a:r>
              <a:t>Dedicated tabs for Student (GR No), Faculty (Department), Technician, and Admin credentials.</a:t>
            </a:r>
          </a:p>
          <a:p>
            <a:pPr>
              <a:defRPr sz="1100" b="1">
                <a:solidFill>
                  <a:srgbClr val="FFFFFF"/>
                </a:solidFill>
              </a:defRPr>
            </a:pPr>
            <a:r>
              <a:t>• Client-Side Form Validation</a:t>
            </a:r>
          </a:p>
          <a:p>
            <a:pPr>
              <a:spcAft>
                <a:spcPts val="600"/>
              </a:spcAft>
              <a:defRPr sz="1000">
                <a:solidFill>
                  <a:srgbClr val="E2E8F0"/>
                </a:solidFill>
              </a:defRPr>
            </a:pPr>
            <a:r>
              <a:t>Guards against empty inputs, invalid GR formats, and unauthorized passwords.</a:t>
            </a:r>
          </a:p>
          <a:p>
            <a:pPr>
              <a:defRPr sz="1100" b="1">
                <a:solidFill>
                  <a:srgbClr val="FFFFFF"/>
                </a:solidFill>
              </a:defRPr>
            </a:pPr>
            <a:r>
              <a:t>• Session Token SLA (15-Min)</a:t>
            </a:r>
          </a:p>
          <a:p>
            <a:pPr>
              <a:spcAft>
                <a:spcPts val="600"/>
              </a:spcAft>
              <a:defRPr sz="1000">
                <a:solidFill>
                  <a:srgbClr val="E2E8F0"/>
                </a:solidFill>
              </a:defRPr>
            </a:pPr>
            <a:r>
              <a:t>Establishes secure session tokens in LocalStorage with automatic expiration timers.</a:t>
            </a:r>
          </a:p>
          <a:p>
            <a:pPr>
              <a:defRPr sz="1100" b="1">
                <a:solidFill>
                  <a:srgbClr val="FFFFFF"/>
                </a:solidFill>
              </a:defRPr>
            </a:pPr>
            <a:r>
              <a:t>• Student Registration Modal</a:t>
            </a:r>
          </a:p>
          <a:p>
            <a:pPr>
              <a:spcAft>
                <a:spcPts val="600"/>
              </a:spcAft>
              <a:defRPr sz="1000">
                <a:solidFill>
                  <a:srgbClr val="E2E8F0"/>
                </a:solidFill>
              </a:defRPr>
            </a:pPr>
            <a:r>
              <a:t>Allows new students to register accounts with duplicate GR checking.</a:t>
            </a:r>
          </a:p>
          <a:p>
            <a:pPr>
              <a:defRPr sz="1100" b="1">
                <a:solidFill>
                  <a:srgbClr val="FFFFFF"/>
                </a:solidFill>
              </a:defRPr>
            </a:pPr>
            <a:r>
              <a:t>• Demo Quick-Fill Helpers</a:t>
            </a:r>
          </a:p>
          <a:p>
            <a:pPr>
              <a:spcAft>
                <a:spcPts val="600"/>
              </a:spcAft>
              <a:defRPr sz="1000">
                <a:solidFill>
                  <a:srgbClr val="E2E8F0"/>
                </a:solidFill>
              </a:defRPr>
            </a:pPr>
            <a:r>
              <a:t>One-click demo credential chips for rapid evaluation and testing.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20040"/>
            <a:ext cx="10698480" cy="274320"/>
          </a:xfrm>
          <a:prstGeom prst="rect">
            <a:avLst/>
          </a:prstGeom>
          <a:noFill/>
        </p:spPr>
        <p:txBody>
          <a:bodyPr wrap="square" lIns="0" tIns="0" rIns="0" bIns="0">
            <a:spAutoFit/>
          </a:bodyPr>
          <a:lstStyle/>
          <a:p>
            <a:pPr>
              <a:defRPr sz="1000" b="1">
                <a:solidFill>
                  <a:srgbClr val="06B6D4"/>
                </a:solidFill>
                <a:latin typeface="Calibri"/>
              </a:defRPr>
            </a:pPr>
            <a:r>
              <a:t>CAMPUS CONNECT | WEB ENGINEERING PROJECT</a:t>
            </a:r>
          </a:p>
        </p:txBody>
      </p:sp>
      <p:sp>
        <p:nvSpPr>
          <p:cNvPr id="4" name="TextBox 3"/>
          <p:cNvSpPr txBox="1"/>
          <p:nvPr/>
        </p:nvSpPr>
        <p:spPr>
          <a:xfrm>
            <a:off x="731520" y="594360"/>
            <a:ext cx="10698480" cy="548640"/>
          </a:xfrm>
          <a:prstGeom prst="rect">
            <a:avLst/>
          </a:prstGeom>
          <a:noFill/>
        </p:spPr>
        <p:txBody>
          <a:bodyPr wrap="square" lIns="0" tIns="0" rIns="0" bIns="0">
            <a:spAutoFit/>
          </a:bodyPr>
          <a:lstStyle/>
          <a:p>
            <a:pPr>
              <a:defRPr sz="2200" b="1">
                <a:solidFill>
                  <a:srgbClr val="FFFFFF"/>
                </a:solidFill>
                <a:latin typeface="Segoe UI"/>
              </a:defRPr>
            </a:pPr>
            <a:r>
              <a:t>Resolution Portal &amp; Complaint Filing (portal.html)</a:t>
            </a:r>
          </a:p>
        </p:txBody>
      </p:sp>
      <p:sp>
        <p:nvSpPr>
          <p:cNvPr id="5" name="Rectangle 4"/>
          <p:cNvSpPr/>
          <p:nvPr/>
        </p:nvSpPr>
        <p:spPr>
          <a:xfrm>
            <a:off x="731520" y="1188720"/>
            <a:ext cx="2011680" cy="36576"/>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76656" y="1408176"/>
            <a:ext cx="6327648" cy="4956048"/>
          </a:xfrm>
          <a:prstGeom prst="roundRect">
            <a:avLst/>
          </a:prstGeom>
          <a:solidFill>
            <a:srgbClr val="131D36"/>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portal.png"/>
          <p:cNvPicPr>
            <a:picLocks noChangeAspect="1"/>
          </p:cNvPicPr>
          <p:nvPr/>
        </p:nvPicPr>
        <p:blipFill>
          <a:blip r:embed="rId3"/>
          <a:stretch>
            <a:fillRect/>
          </a:stretch>
        </p:blipFill>
        <p:spPr>
          <a:xfrm>
            <a:off x="731520" y="1463040"/>
            <a:ext cx="6217920" cy="4846320"/>
          </a:xfrm>
          <a:prstGeom prst="rect">
            <a:avLst/>
          </a:prstGeom>
        </p:spPr>
      </p:pic>
      <p:sp>
        <p:nvSpPr>
          <p:cNvPr id="8" name="Rounded Rectangle 7"/>
          <p:cNvSpPr/>
          <p:nvPr/>
        </p:nvSpPr>
        <p:spPr>
          <a:xfrm>
            <a:off x="7223760" y="1463040"/>
            <a:ext cx="4206240" cy="4846320"/>
          </a:xfrm>
          <a:prstGeom prst="roundRect">
            <a:avLst/>
          </a:prstGeom>
          <a:solidFill>
            <a:srgbClr val="131D36"/>
          </a:solidFill>
          <a:ln>
            <a:solidFill>
              <a:srgbClr val="06B6D4"/>
            </a:solidFill>
          </a:ln>
        </p:spPr>
        <p:style>
          <a:lnRef idx="1">
            <a:schemeClr val="accent1"/>
          </a:lnRef>
          <a:fillRef idx="3">
            <a:schemeClr val="accent1"/>
          </a:fillRef>
          <a:effectRef idx="2">
            <a:schemeClr val="accent1"/>
          </a:effectRef>
          <a:fontRef idx="minor">
            <a:schemeClr val="lt1"/>
          </a:fontRef>
        </p:style>
        <p:txBody>
          <a:bodyPr wrap="square" lIns="228600" tIns="228600" rtlCol="0" anchor="ctr"/>
          <a:lstStyle/>
          <a:p>
            <a:pPr algn="ctr">
              <a:spcAft>
                <a:spcPts val="1000"/>
              </a:spcAft>
              <a:defRPr sz="1300" b="1">
                <a:solidFill>
                  <a:srgbClr val="06B6D4"/>
                </a:solidFill>
              </a:defRPr>
            </a:pPr>
            <a:r>
              <a:t>COMPLAINT ENGINE CAPABILITIES</a:t>
            </a:r>
          </a:p>
          <a:p>
            <a:pPr>
              <a:defRPr sz="1100" b="1">
                <a:solidFill>
                  <a:srgbClr val="FFFFFF"/>
                </a:solidFill>
              </a:defRPr>
            </a:pPr>
            <a:r>
              <a:t>• Evidence Upload (Photo/Video)</a:t>
            </a:r>
          </a:p>
          <a:p>
            <a:pPr>
              <a:spcAft>
                <a:spcPts val="600"/>
              </a:spcAft>
              <a:defRPr sz="1000">
                <a:solidFill>
                  <a:srgbClr val="E2E8F0"/>
                </a:solidFill>
              </a:defRPr>
            </a:pPr>
            <a:r>
              <a:t>Students upload fault photos or video recordings via base64 encoding with image preview.</a:t>
            </a:r>
          </a:p>
          <a:p>
            <a:pPr>
              <a:defRPr sz="1100" b="1">
                <a:solidFill>
                  <a:srgbClr val="FFFFFF"/>
                </a:solidFill>
              </a:defRPr>
            </a:pPr>
            <a:r>
              <a:t>• Smart Priority Keyword Scanner</a:t>
            </a:r>
          </a:p>
          <a:p>
            <a:pPr>
              <a:spcAft>
                <a:spcPts val="600"/>
              </a:spcAft>
              <a:defRPr sz="1000">
                <a:solidFill>
                  <a:srgbClr val="E2E8F0"/>
                </a:solidFill>
              </a:defRPr>
            </a:pPr>
            <a:r>
              <a:t>Automatically detects hazard keywords (e.g. 'open wire', 'sparks') to set High Priority.</a:t>
            </a:r>
          </a:p>
          <a:p>
            <a:pPr>
              <a:defRPr sz="1100" b="1">
                <a:solidFill>
                  <a:srgbClr val="FFFFFF"/>
                </a:solidFill>
              </a:defRPr>
            </a:pPr>
            <a:r>
              <a:t>• Unique Ticket ID Generation</a:t>
            </a:r>
          </a:p>
          <a:p>
            <a:pPr>
              <a:spcAft>
                <a:spcPts val="600"/>
              </a:spcAft>
              <a:defRPr sz="1000">
                <a:solidFill>
                  <a:srgbClr val="E2E8F0"/>
                </a:solidFill>
              </a:defRPr>
            </a:pPr>
            <a:r>
              <a:t>Generates permanent tracking reference IDs (e.g. COMP-201) maintained across the entire lifecycle.</a:t>
            </a:r>
          </a:p>
          <a:p>
            <a:pPr>
              <a:defRPr sz="1100" b="1">
                <a:solidFill>
                  <a:srgbClr val="FFFFFF"/>
                </a:solidFill>
              </a:defRPr>
            </a:pPr>
            <a:r>
              <a:t>• Interactive Complaint Modal</a:t>
            </a:r>
          </a:p>
          <a:p>
            <a:pPr>
              <a:spcAft>
                <a:spcPts val="600"/>
              </a:spcAft>
              <a:defRPr sz="1000">
                <a:solidFill>
                  <a:srgbClr val="E2E8F0"/>
                </a:solidFill>
              </a:defRPr>
            </a:pPr>
            <a:r>
              <a:t>Allows filing from any page with location, department, and description inputs.</a:t>
            </a:r>
          </a:p>
          <a:p>
            <a:pPr>
              <a:defRPr sz="1100" b="1">
                <a:solidFill>
                  <a:srgbClr val="FFFFFF"/>
                </a:solidFill>
              </a:defRPr>
            </a:pPr>
            <a:r>
              <a:t>• Initial Stage Binding</a:t>
            </a:r>
          </a:p>
          <a:p>
            <a:pPr>
              <a:spcAft>
                <a:spcPts val="600"/>
              </a:spcAft>
              <a:defRPr sz="1000">
                <a:solidFill>
                  <a:srgbClr val="E2E8F0"/>
                </a:solidFill>
              </a:defRPr>
            </a:pPr>
            <a:r>
              <a:t>Binds complaint with Stage 1 (14% • Complaint Submitted) for real-time tracking.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20040"/>
            <a:ext cx="10698480" cy="274320"/>
          </a:xfrm>
          <a:prstGeom prst="rect">
            <a:avLst/>
          </a:prstGeom>
          <a:noFill/>
        </p:spPr>
        <p:txBody>
          <a:bodyPr wrap="square" lIns="0" tIns="0" rIns="0" bIns="0">
            <a:spAutoFit/>
          </a:bodyPr>
          <a:lstStyle/>
          <a:p>
            <a:pPr>
              <a:defRPr sz="1000" b="1">
                <a:solidFill>
                  <a:srgbClr val="06B6D4"/>
                </a:solidFill>
                <a:latin typeface="Calibri"/>
              </a:defRPr>
            </a:pPr>
            <a:r>
              <a:t>CAMPUS CONNECT | WEB ENGINEERING PROJECT</a:t>
            </a:r>
          </a:p>
        </p:txBody>
      </p:sp>
      <p:sp>
        <p:nvSpPr>
          <p:cNvPr id="4" name="TextBox 3"/>
          <p:cNvSpPr txBox="1"/>
          <p:nvPr/>
        </p:nvSpPr>
        <p:spPr>
          <a:xfrm>
            <a:off x="731520" y="594360"/>
            <a:ext cx="10698480" cy="548640"/>
          </a:xfrm>
          <a:prstGeom prst="rect">
            <a:avLst/>
          </a:prstGeom>
          <a:noFill/>
        </p:spPr>
        <p:txBody>
          <a:bodyPr wrap="square" lIns="0" tIns="0" rIns="0" bIns="0">
            <a:spAutoFit/>
          </a:bodyPr>
          <a:lstStyle/>
          <a:p>
            <a:pPr>
              <a:defRPr sz="2200" b="1">
                <a:solidFill>
                  <a:srgbClr val="FFFFFF"/>
                </a:solidFill>
                <a:latin typeface="Segoe UI"/>
              </a:defRPr>
            </a:pPr>
            <a:r>
              <a:t>Role Workspaces &amp; Dashboards (roles.html)</a:t>
            </a:r>
          </a:p>
        </p:txBody>
      </p:sp>
      <p:sp>
        <p:nvSpPr>
          <p:cNvPr id="5" name="Rectangle 4"/>
          <p:cNvSpPr/>
          <p:nvPr/>
        </p:nvSpPr>
        <p:spPr>
          <a:xfrm>
            <a:off x="731520" y="1188720"/>
            <a:ext cx="2011680" cy="36576"/>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76656" y="1408176"/>
            <a:ext cx="6327648" cy="4956048"/>
          </a:xfrm>
          <a:prstGeom prst="roundRect">
            <a:avLst/>
          </a:prstGeom>
          <a:solidFill>
            <a:srgbClr val="131D36"/>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roles_admin.png"/>
          <p:cNvPicPr>
            <a:picLocks noChangeAspect="1"/>
          </p:cNvPicPr>
          <p:nvPr/>
        </p:nvPicPr>
        <p:blipFill>
          <a:blip r:embed="rId3"/>
          <a:stretch>
            <a:fillRect/>
          </a:stretch>
        </p:blipFill>
        <p:spPr>
          <a:xfrm>
            <a:off x="731520" y="1463040"/>
            <a:ext cx="6217920" cy="4846320"/>
          </a:xfrm>
          <a:prstGeom prst="rect">
            <a:avLst/>
          </a:prstGeom>
        </p:spPr>
      </p:pic>
      <p:sp>
        <p:nvSpPr>
          <p:cNvPr id="8" name="Rounded Rectangle 7"/>
          <p:cNvSpPr/>
          <p:nvPr/>
        </p:nvSpPr>
        <p:spPr>
          <a:xfrm>
            <a:off x="7223760" y="1463040"/>
            <a:ext cx="4206240" cy="4846320"/>
          </a:xfrm>
          <a:prstGeom prst="roundRect">
            <a:avLst/>
          </a:prstGeom>
          <a:solidFill>
            <a:srgbClr val="131D36"/>
          </a:solidFill>
          <a:ln>
            <a:solidFill>
              <a:srgbClr val="10B981"/>
            </a:solidFill>
          </a:ln>
        </p:spPr>
        <p:style>
          <a:lnRef idx="1">
            <a:schemeClr val="accent1"/>
          </a:lnRef>
          <a:fillRef idx="3">
            <a:schemeClr val="accent1"/>
          </a:fillRef>
          <a:effectRef idx="2">
            <a:schemeClr val="accent1"/>
          </a:effectRef>
          <a:fontRef idx="minor">
            <a:schemeClr val="lt1"/>
          </a:fontRef>
        </p:style>
        <p:txBody>
          <a:bodyPr wrap="square" lIns="228600" tIns="228600" rtlCol="0" anchor="ctr"/>
          <a:lstStyle/>
          <a:p>
            <a:pPr algn="ctr">
              <a:spcAft>
                <a:spcPts val="800"/>
              </a:spcAft>
              <a:defRPr sz="1300" b="1">
                <a:solidFill>
                  <a:srgbClr val="06B6D4"/>
                </a:solidFill>
              </a:defRPr>
            </a:pPr>
            <a:r>
              <a:t>4 ROLE-SPECIFIC WORKSPACES</a:t>
            </a:r>
          </a:p>
          <a:p>
            <a:pPr>
              <a:defRPr sz="1100" b="1">
                <a:solidFill>
                  <a:srgbClr val="FFFFFF"/>
                </a:solidFill>
              </a:defRPr>
            </a:pPr>
            <a:r>
              <a:t>• Student Dashboard</a:t>
            </a:r>
          </a:p>
          <a:p>
            <a:pPr>
              <a:spcAft>
                <a:spcPts val="600"/>
              </a:spcAft>
              <a:defRPr sz="1000">
                <a:solidFill>
                  <a:srgbClr val="E2E8F0"/>
                </a:solidFill>
              </a:defRPr>
            </a:pPr>
            <a:r>
              <a:t>Displays live 7-stage progress bars (14% → 100%), fault cards, technician details, and resolution proof.</a:t>
            </a:r>
          </a:p>
          <a:p>
            <a:pPr>
              <a:defRPr sz="1100" b="1">
                <a:solidFill>
                  <a:srgbClr val="FFFFFF"/>
                </a:solidFill>
              </a:defRPr>
            </a:pPr>
            <a:r>
              <a:t>• Admin Console (Shown)</a:t>
            </a:r>
          </a:p>
          <a:p>
            <a:pPr>
              <a:spcAft>
                <a:spcPts val="600"/>
              </a:spcAft>
              <a:defRPr sz="1000">
                <a:solidFill>
                  <a:srgbClr val="E2E8F0"/>
                </a:solidFill>
              </a:defRPr>
            </a:pPr>
            <a:r>
              <a:t>Interactive Chart.js graphs, inbound ticket audit, technician dispatch modal, and student warnings.</a:t>
            </a:r>
          </a:p>
          <a:p>
            <a:pPr>
              <a:defRPr sz="1100" b="1">
                <a:solidFill>
                  <a:srgbClr val="FFFFFF"/>
                </a:solidFill>
              </a:defRPr>
            </a:pPr>
            <a:r>
              <a:t>• Technician Action Queue</a:t>
            </a:r>
          </a:p>
          <a:p>
            <a:pPr>
              <a:spcAft>
                <a:spcPts val="600"/>
              </a:spcAft>
              <a:defRPr sz="1000">
                <a:solidFill>
                  <a:srgbClr val="E2E8F0"/>
                </a:solidFill>
              </a:defRPr>
            </a:pPr>
            <a:r>
              <a:t>Work order acceptance/rejection, deadline countdowns, and certified resolution proof photo upload.</a:t>
            </a:r>
          </a:p>
          <a:p>
            <a:pPr>
              <a:defRPr sz="1100" b="1">
                <a:solidFill>
                  <a:srgbClr val="FFFFFF"/>
                </a:solidFill>
              </a:defRPr>
            </a:pPr>
            <a:r>
              <a:t>• Faculty QA Panel</a:t>
            </a:r>
          </a:p>
          <a:p>
            <a:pPr>
              <a:spcAft>
                <a:spcPts val="600"/>
              </a:spcAft>
              <a:defRPr sz="1000">
                <a:solidFill>
                  <a:srgbClr val="E2E8F0"/>
                </a:solidFill>
              </a:defRPr>
            </a:pPr>
            <a:r>
              <a:t>Department-level work order audit, photographic proof inspection, and final completion verification.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20040"/>
            <a:ext cx="10698480" cy="274320"/>
          </a:xfrm>
          <a:prstGeom prst="rect">
            <a:avLst/>
          </a:prstGeom>
          <a:noFill/>
        </p:spPr>
        <p:txBody>
          <a:bodyPr wrap="square" lIns="0" tIns="0" rIns="0" bIns="0">
            <a:spAutoFit/>
          </a:bodyPr>
          <a:lstStyle/>
          <a:p>
            <a:pPr>
              <a:defRPr sz="1000" b="1">
                <a:solidFill>
                  <a:srgbClr val="06B6D4"/>
                </a:solidFill>
                <a:latin typeface="Calibri"/>
              </a:defRPr>
            </a:pPr>
            <a:r>
              <a:t>CAMPUS CONNECT | WEB ENGINEERING PROJECT</a:t>
            </a:r>
          </a:p>
        </p:txBody>
      </p:sp>
      <p:sp>
        <p:nvSpPr>
          <p:cNvPr id="4" name="TextBox 3"/>
          <p:cNvSpPr txBox="1"/>
          <p:nvPr/>
        </p:nvSpPr>
        <p:spPr>
          <a:xfrm>
            <a:off x="731520" y="594360"/>
            <a:ext cx="10698480" cy="548640"/>
          </a:xfrm>
          <a:prstGeom prst="rect">
            <a:avLst/>
          </a:prstGeom>
          <a:noFill/>
        </p:spPr>
        <p:txBody>
          <a:bodyPr wrap="square" lIns="0" tIns="0" rIns="0" bIns="0">
            <a:spAutoFit/>
          </a:bodyPr>
          <a:lstStyle/>
          <a:p>
            <a:pPr>
              <a:defRPr sz="2200" b="1">
                <a:solidFill>
                  <a:srgbClr val="FFFFFF"/>
                </a:solidFill>
                <a:latin typeface="Segoe UI"/>
              </a:defRPr>
            </a:pPr>
            <a:r>
              <a:t>Public Campus Transparency Feed (feed.html)</a:t>
            </a:r>
          </a:p>
        </p:txBody>
      </p:sp>
      <p:sp>
        <p:nvSpPr>
          <p:cNvPr id="5" name="Rectangle 4"/>
          <p:cNvSpPr/>
          <p:nvPr/>
        </p:nvSpPr>
        <p:spPr>
          <a:xfrm>
            <a:off x="731520" y="1188720"/>
            <a:ext cx="2011680" cy="36576"/>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76656" y="1408176"/>
            <a:ext cx="6327648" cy="4956048"/>
          </a:xfrm>
          <a:prstGeom prst="roundRect">
            <a:avLst/>
          </a:prstGeom>
          <a:solidFill>
            <a:srgbClr val="131D36"/>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eed.png"/>
          <p:cNvPicPr>
            <a:picLocks noChangeAspect="1"/>
          </p:cNvPicPr>
          <p:nvPr/>
        </p:nvPicPr>
        <p:blipFill>
          <a:blip r:embed="rId3"/>
          <a:stretch>
            <a:fillRect/>
          </a:stretch>
        </p:blipFill>
        <p:spPr>
          <a:xfrm>
            <a:off x="731520" y="1463040"/>
            <a:ext cx="6217920" cy="4846320"/>
          </a:xfrm>
          <a:prstGeom prst="rect">
            <a:avLst/>
          </a:prstGeom>
        </p:spPr>
      </p:pic>
      <p:sp>
        <p:nvSpPr>
          <p:cNvPr id="8" name="Rounded Rectangle 7"/>
          <p:cNvSpPr/>
          <p:nvPr/>
        </p:nvSpPr>
        <p:spPr>
          <a:xfrm>
            <a:off x="7223760" y="1463040"/>
            <a:ext cx="4206240" cy="4846320"/>
          </a:xfrm>
          <a:prstGeom prst="roundRect">
            <a:avLst/>
          </a:prstGeom>
          <a:solidFill>
            <a:srgbClr val="131D36"/>
          </a:solidFill>
          <a:ln>
            <a:solidFill>
              <a:srgbClr val="06B6D4"/>
            </a:solidFill>
          </a:ln>
        </p:spPr>
        <p:style>
          <a:lnRef idx="1">
            <a:schemeClr val="accent1"/>
          </a:lnRef>
          <a:fillRef idx="3">
            <a:schemeClr val="accent1"/>
          </a:fillRef>
          <a:effectRef idx="2">
            <a:schemeClr val="accent1"/>
          </a:effectRef>
          <a:fontRef idx="minor">
            <a:schemeClr val="lt1"/>
          </a:fontRef>
        </p:style>
        <p:txBody>
          <a:bodyPr wrap="square" lIns="228600" tIns="228600" rtlCol="0" anchor="ctr"/>
          <a:lstStyle/>
          <a:p>
            <a:pPr algn="ctr">
              <a:spcAft>
                <a:spcPts val="1000"/>
              </a:spcAft>
              <a:defRPr sz="1300" b="1">
                <a:solidFill>
                  <a:srgbClr val="06B6D4"/>
                </a:solidFill>
              </a:defRPr>
            </a:pPr>
            <a:r>
              <a:t>TRANSPARENCY FEED FEATURES</a:t>
            </a:r>
          </a:p>
          <a:p>
            <a:pPr>
              <a:defRPr sz="1100" b="1">
                <a:solidFill>
                  <a:srgbClr val="FFFFFF"/>
                </a:solidFill>
              </a:defRPr>
            </a:pPr>
            <a:r>
              <a:t>• Public Campus Visibility</a:t>
            </a:r>
          </a:p>
          <a:p>
            <a:pPr>
              <a:spcAft>
                <a:spcPts val="600"/>
              </a:spcAft>
              <a:defRPr sz="1000">
                <a:solidFill>
                  <a:srgbClr val="E2E8F0"/>
                </a:solidFill>
              </a:defRPr>
            </a:pPr>
            <a:r>
              <a:t>Open view of reported issues across departments to prevent duplicate complaint submissions.</a:t>
            </a:r>
          </a:p>
          <a:p>
            <a:pPr>
              <a:defRPr sz="1100" b="1">
                <a:solidFill>
                  <a:srgbClr val="FFFFFF"/>
                </a:solidFill>
              </a:defRPr>
            </a:pPr>
            <a:r>
              <a:t>• Department Filter Tabs</a:t>
            </a:r>
          </a:p>
          <a:p>
            <a:pPr>
              <a:spcAft>
                <a:spcPts val="600"/>
              </a:spcAft>
              <a:defRPr sz="1000">
                <a:solidFill>
                  <a:srgbClr val="E2E8F0"/>
                </a:solidFill>
              </a:defRPr>
            </a:pPr>
            <a:r>
              <a:t>One-click filters for Computer, Electrical, Mechanical, and Civil departments.</a:t>
            </a:r>
          </a:p>
          <a:p>
            <a:pPr>
              <a:defRPr sz="1100" b="1">
                <a:solidFill>
                  <a:srgbClr val="FFFFFF"/>
                </a:solidFill>
              </a:defRPr>
            </a:pPr>
            <a:r>
              <a:t>• Resolution Proof Lightbox</a:t>
            </a:r>
          </a:p>
          <a:p>
            <a:pPr>
              <a:spcAft>
                <a:spcPts val="600"/>
              </a:spcAft>
              <a:defRPr sz="1000">
                <a:solidFill>
                  <a:srgbClr val="E2E8F0"/>
                </a:solidFill>
              </a:defRPr>
            </a:pPr>
            <a:r>
              <a:t>Students can click 'Inspect Photo' to view the technician's certified resolution proof.</a:t>
            </a:r>
          </a:p>
          <a:p>
            <a:pPr>
              <a:defRPr sz="1100" b="1">
                <a:solidFill>
                  <a:srgbClr val="FFFFFF"/>
                </a:solidFill>
              </a:defRPr>
            </a:pPr>
            <a:r>
              <a:t>• Status Badges</a:t>
            </a:r>
          </a:p>
          <a:p>
            <a:pPr>
              <a:spcAft>
                <a:spcPts val="600"/>
              </a:spcAft>
              <a:defRPr sz="1000">
                <a:solidFill>
                  <a:srgbClr val="E2E8F0"/>
                </a:solidFill>
              </a:defRPr>
            </a:pPr>
            <a:r>
              <a:t>Dynamic color-coded status badges ('Completed', 'Approved by Admin', 'Work in Progress').</a:t>
            </a:r>
          </a:p>
          <a:p>
            <a:pPr>
              <a:defRPr sz="1100" b="1">
                <a:solidFill>
                  <a:srgbClr val="FFFFFF"/>
                </a:solidFill>
              </a:defRPr>
            </a:pPr>
            <a:r>
              <a:t>• Live Issue Search</a:t>
            </a:r>
          </a:p>
          <a:p>
            <a:pPr>
              <a:spcAft>
                <a:spcPts val="600"/>
              </a:spcAft>
              <a:defRPr sz="1000">
                <a:solidFill>
                  <a:srgbClr val="E2E8F0"/>
                </a:solidFill>
              </a:defRPr>
            </a:pPr>
            <a:r>
              <a:t>Real-time client-side search across issue titles, ticket IDs, and campus venues.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20040"/>
            <a:ext cx="10698480" cy="274320"/>
          </a:xfrm>
          <a:prstGeom prst="rect">
            <a:avLst/>
          </a:prstGeom>
          <a:noFill/>
        </p:spPr>
        <p:txBody>
          <a:bodyPr wrap="square" lIns="0" tIns="0" rIns="0" bIns="0">
            <a:spAutoFit/>
          </a:bodyPr>
          <a:lstStyle/>
          <a:p>
            <a:pPr>
              <a:defRPr sz="1000" b="1">
                <a:solidFill>
                  <a:srgbClr val="06B6D4"/>
                </a:solidFill>
                <a:latin typeface="Calibri"/>
              </a:defRPr>
            </a:pPr>
            <a:r>
              <a:t>CAMPUS CONNECT | WEB ENGINEERING PROJECT</a:t>
            </a:r>
          </a:p>
        </p:txBody>
      </p:sp>
      <p:sp>
        <p:nvSpPr>
          <p:cNvPr id="4" name="TextBox 3"/>
          <p:cNvSpPr txBox="1"/>
          <p:nvPr/>
        </p:nvSpPr>
        <p:spPr>
          <a:xfrm>
            <a:off x="731520" y="594360"/>
            <a:ext cx="10698480" cy="548640"/>
          </a:xfrm>
          <a:prstGeom prst="rect">
            <a:avLst/>
          </a:prstGeom>
          <a:noFill/>
        </p:spPr>
        <p:txBody>
          <a:bodyPr wrap="square" lIns="0" tIns="0" rIns="0" bIns="0">
            <a:spAutoFit/>
          </a:bodyPr>
          <a:lstStyle/>
          <a:p>
            <a:pPr>
              <a:defRPr sz="2200" b="1">
                <a:solidFill>
                  <a:srgbClr val="FFFFFF"/>
                </a:solidFill>
                <a:latin typeface="Segoe UI"/>
              </a:defRPr>
            </a:pPr>
            <a:r>
              <a:t>Page-to-Page Navigation &amp; User Journey</a:t>
            </a:r>
          </a:p>
        </p:txBody>
      </p:sp>
      <p:sp>
        <p:nvSpPr>
          <p:cNvPr id="5" name="Rectangle 4"/>
          <p:cNvSpPr/>
          <p:nvPr/>
        </p:nvSpPr>
        <p:spPr>
          <a:xfrm>
            <a:off x="731520" y="1188720"/>
            <a:ext cx="2011680" cy="36576"/>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2057400" cy="3108960"/>
          </a:xfrm>
          <a:prstGeom prst="roundRect">
            <a:avLst/>
          </a:prstGeom>
          <a:solidFill>
            <a:srgbClr val="131D36"/>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22960" y="1572768"/>
            <a:ext cx="1874519" cy="5029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tIns="73152" rtlCol="0" anchor="ctr"/>
          <a:lstStyle/>
          <a:p>
            <a:pPr algn="ctr">
              <a:defRPr sz="1050" b="1">
                <a:solidFill>
                  <a:srgbClr val="FFFFFF"/>
                </a:solidFill>
              </a:defRPr>
            </a:pPr>
            <a:r>
              <a:t>1. Home (index.html)</a:t>
            </a:r>
          </a:p>
        </p:txBody>
      </p:sp>
      <p:sp>
        <p:nvSpPr>
          <p:cNvPr id="8" name="TextBox 7"/>
          <p:cNvSpPr txBox="1"/>
          <p:nvPr/>
        </p:nvSpPr>
        <p:spPr>
          <a:xfrm>
            <a:off x="822960" y="2148840"/>
            <a:ext cx="1874519" cy="2286000"/>
          </a:xfrm>
          <a:prstGeom prst="rect">
            <a:avLst/>
          </a:prstGeom>
          <a:noFill/>
        </p:spPr>
        <p:txBody>
          <a:bodyPr wrap="square">
            <a:spAutoFit/>
          </a:bodyPr>
          <a:lstStyle/>
          <a:p>
            <a:pPr>
              <a:defRPr sz="1050">
                <a:solidFill>
                  <a:srgbClr val="E2E8F0"/>
                </a:solidFill>
              </a:defRPr>
            </a:pPr>
            <a:r>
              <a:t>Landing page with system overview, emergency trigger, and login entry points.</a:t>
            </a:r>
          </a:p>
        </p:txBody>
      </p:sp>
      <p:sp>
        <p:nvSpPr>
          <p:cNvPr id="9" name="Rounded Rectangle 8"/>
          <p:cNvSpPr/>
          <p:nvPr/>
        </p:nvSpPr>
        <p:spPr>
          <a:xfrm>
            <a:off x="2907791" y="1463040"/>
            <a:ext cx="2057400" cy="3108960"/>
          </a:xfrm>
          <a:prstGeom prst="roundRect">
            <a:avLst/>
          </a:prstGeom>
          <a:solidFill>
            <a:srgbClr val="131D36"/>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2999231" y="1572768"/>
            <a:ext cx="1874519" cy="50292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tIns="73152" rtlCol="0" anchor="ctr"/>
          <a:lstStyle/>
          <a:p>
            <a:pPr algn="ctr">
              <a:defRPr sz="1050" b="1">
                <a:solidFill>
                  <a:srgbClr val="FFFFFF"/>
                </a:solidFill>
              </a:defRPr>
            </a:pPr>
            <a:r>
              <a:t>2. Login (login.html)</a:t>
            </a:r>
          </a:p>
        </p:txBody>
      </p:sp>
      <p:sp>
        <p:nvSpPr>
          <p:cNvPr id="11" name="TextBox 10"/>
          <p:cNvSpPr txBox="1"/>
          <p:nvPr/>
        </p:nvSpPr>
        <p:spPr>
          <a:xfrm>
            <a:off x="2999231" y="2148840"/>
            <a:ext cx="1874519" cy="2286000"/>
          </a:xfrm>
          <a:prstGeom prst="rect">
            <a:avLst/>
          </a:prstGeom>
          <a:noFill/>
        </p:spPr>
        <p:txBody>
          <a:bodyPr wrap="square">
            <a:spAutoFit/>
          </a:bodyPr>
          <a:lstStyle/>
          <a:p>
            <a:pPr>
              <a:defRPr sz="1050">
                <a:solidFill>
                  <a:srgbClr val="E2E8F0"/>
                </a:solidFill>
              </a:defRPr>
            </a:pPr>
            <a:r>
              <a:t>Authenticates user role and redirects to the appropriate dashboard.</a:t>
            </a:r>
          </a:p>
        </p:txBody>
      </p:sp>
      <p:sp>
        <p:nvSpPr>
          <p:cNvPr id="12" name="Rounded Rectangle 11"/>
          <p:cNvSpPr/>
          <p:nvPr/>
        </p:nvSpPr>
        <p:spPr>
          <a:xfrm>
            <a:off x="5084064" y="1463040"/>
            <a:ext cx="2057400" cy="3108960"/>
          </a:xfrm>
          <a:prstGeom prst="roundRect">
            <a:avLst/>
          </a:prstGeom>
          <a:solidFill>
            <a:srgbClr val="131D36"/>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175504" y="1572768"/>
            <a:ext cx="1874519" cy="50292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tIns="73152" rtlCol="0" anchor="ctr"/>
          <a:lstStyle/>
          <a:p>
            <a:pPr algn="ctr">
              <a:defRPr sz="1050" b="1">
                <a:solidFill>
                  <a:srgbClr val="FFFFFF"/>
                </a:solidFill>
              </a:defRPr>
            </a:pPr>
            <a:r>
              <a:t>3. Portal (portal.html)</a:t>
            </a:r>
          </a:p>
        </p:txBody>
      </p:sp>
      <p:sp>
        <p:nvSpPr>
          <p:cNvPr id="14" name="TextBox 13"/>
          <p:cNvSpPr txBox="1"/>
          <p:nvPr/>
        </p:nvSpPr>
        <p:spPr>
          <a:xfrm>
            <a:off x="5175504" y="2148840"/>
            <a:ext cx="1874519" cy="2286000"/>
          </a:xfrm>
          <a:prstGeom prst="rect">
            <a:avLst/>
          </a:prstGeom>
          <a:noFill/>
        </p:spPr>
        <p:txBody>
          <a:bodyPr wrap="square">
            <a:spAutoFit/>
          </a:bodyPr>
          <a:lstStyle/>
          <a:p>
            <a:pPr>
              <a:defRPr sz="1050">
                <a:solidFill>
                  <a:srgbClr val="E2E8F0"/>
                </a:solidFill>
              </a:defRPr>
            </a:pPr>
            <a:r>
              <a:t>Detailed explanation of the resolution process with complaint submission modal.</a:t>
            </a:r>
          </a:p>
        </p:txBody>
      </p:sp>
      <p:sp>
        <p:nvSpPr>
          <p:cNvPr id="15" name="Rounded Rectangle 14"/>
          <p:cNvSpPr/>
          <p:nvPr/>
        </p:nvSpPr>
        <p:spPr>
          <a:xfrm>
            <a:off x="7260336" y="1463040"/>
            <a:ext cx="2057400" cy="3108960"/>
          </a:xfrm>
          <a:prstGeom prst="roundRect">
            <a:avLst/>
          </a:prstGeom>
          <a:solidFill>
            <a:srgbClr val="131D3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351776" y="1572768"/>
            <a:ext cx="1874519" cy="50292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tIns="73152" rtlCol="0" anchor="ctr"/>
          <a:lstStyle/>
          <a:p>
            <a:pPr algn="ctr">
              <a:defRPr sz="1050" b="1">
                <a:solidFill>
                  <a:srgbClr val="FFFFFF"/>
                </a:solidFill>
              </a:defRPr>
            </a:pPr>
            <a:r>
              <a:t>4. Roles (roles.html)</a:t>
            </a:r>
          </a:p>
        </p:txBody>
      </p:sp>
      <p:sp>
        <p:nvSpPr>
          <p:cNvPr id="17" name="TextBox 16"/>
          <p:cNvSpPr txBox="1"/>
          <p:nvPr/>
        </p:nvSpPr>
        <p:spPr>
          <a:xfrm>
            <a:off x="7351776" y="2148840"/>
            <a:ext cx="1874519" cy="2286000"/>
          </a:xfrm>
          <a:prstGeom prst="rect">
            <a:avLst/>
          </a:prstGeom>
          <a:noFill/>
        </p:spPr>
        <p:txBody>
          <a:bodyPr wrap="square">
            <a:spAutoFit/>
          </a:bodyPr>
          <a:lstStyle/>
          <a:p>
            <a:pPr>
              <a:defRPr sz="1050">
                <a:solidFill>
                  <a:srgbClr val="E2E8F0"/>
                </a:solidFill>
              </a:defRPr>
            </a:pPr>
            <a:r>
              <a:t>Houses all 4 role workspaces with live tracking, dispatching, and QA verification.</a:t>
            </a:r>
          </a:p>
        </p:txBody>
      </p:sp>
      <p:sp>
        <p:nvSpPr>
          <p:cNvPr id="18" name="Rounded Rectangle 17"/>
          <p:cNvSpPr/>
          <p:nvPr/>
        </p:nvSpPr>
        <p:spPr>
          <a:xfrm>
            <a:off x="9436608" y="1463040"/>
            <a:ext cx="2057400" cy="3108960"/>
          </a:xfrm>
          <a:prstGeom prst="roundRect">
            <a:avLst/>
          </a:prstGeom>
          <a:solidFill>
            <a:srgbClr val="131D36"/>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9528048" y="1572768"/>
            <a:ext cx="1874519" cy="50292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tIns="73152" rtlCol="0" anchor="ctr"/>
          <a:lstStyle/>
          <a:p>
            <a:pPr algn="ctr">
              <a:defRPr sz="1050" b="1">
                <a:solidFill>
                  <a:srgbClr val="FFFFFF"/>
                </a:solidFill>
              </a:defRPr>
            </a:pPr>
            <a:r>
              <a:t>5. Feed (feed.html)</a:t>
            </a:r>
          </a:p>
        </p:txBody>
      </p:sp>
      <p:sp>
        <p:nvSpPr>
          <p:cNvPr id="20" name="TextBox 19"/>
          <p:cNvSpPr txBox="1"/>
          <p:nvPr/>
        </p:nvSpPr>
        <p:spPr>
          <a:xfrm>
            <a:off x="9528048" y="2148840"/>
            <a:ext cx="1874519" cy="2286000"/>
          </a:xfrm>
          <a:prstGeom prst="rect">
            <a:avLst/>
          </a:prstGeom>
          <a:noFill/>
        </p:spPr>
        <p:txBody>
          <a:bodyPr wrap="square">
            <a:spAutoFit/>
          </a:bodyPr>
          <a:lstStyle/>
          <a:p>
            <a:pPr>
              <a:defRPr sz="1050">
                <a:solidFill>
                  <a:srgbClr val="E2E8F0"/>
                </a:solidFill>
              </a:defRPr>
            </a:pPr>
            <a:r>
              <a:t>Public transparency board displaying all campus tickets and resolution proofs.</a:t>
            </a:r>
          </a:p>
        </p:txBody>
      </p:sp>
      <p:sp>
        <p:nvSpPr>
          <p:cNvPr id="21" name="Rounded Rectangle 20"/>
          <p:cNvSpPr/>
          <p:nvPr/>
        </p:nvSpPr>
        <p:spPr>
          <a:xfrm>
            <a:off x="731520" y="4800600"/>
            <a:ext cx="10698480" cy="1600200"/>
          </a:xfrm>
          <a:prstGeom prst="roundRect">
            <a:avLst/>
          </a:prstGeom>
          <a:solidFill>
            <a:srgbClr val="131D36"/>
          </a:solidFill>
          <a:ln>
            <a:solidFill>
              <a:srgbClr val="7C3AED"/>
            </a:solidFill>
          </a:ln>
        </p:spPr>
        <p:style>
          <a:lnRef idx="1">
            <a:schemeClr val="accent1"/>
          </a:lnRef>
          <a:fillRef idx="3">
            <a:schemeClr val="accent1"/>
          </a:fillRef>
          <a:effectRef idx="2">
            <a:schemeClr val="accent1"/>
          </a:effectRef>
          <a:fontRef idx="minor">
            <a:schemeClr val="lt1"/>
          </a:fontRef>
        </p:style>
        <p:txBody>
          <a:bodyPr lIns="274320" tIns="164592" rtlCol="0" anchor="ctr"/>
          <a:lstStyle/>
          <a:p>
            <a:pPr algn="ctr">
              <a:defRPr sz="1200" b="1">
                <a:solidFill>
                  <a:srgbClr val="06B6D4"/>
                </a:solidFill>
              </a:defRPr>
            </a:pPr>
            <a:r>
              <a:t>SEAMLESS CROSS-PAGE ROUTING &amp; STATE SYNC</a:t>
            </a:r>
          </a:p>
          <a:p>
            <a:pPr>
              <a:spcAft>
                <a:spcPts val="400"/>
              </a:spcAft>
              <a:defRPr sz="1250" b="1">
                <a:solidFill>
                  <a:srgbClr val="FFFFFF"/>
                </a:solidFill>
              </a:defRPr>
            </a:pPr>
            <a:r>
              <a:t>Home ➔ Login ➔ Role Dashboard ➔ Complaint Filing ➔ Admin Dispatch ➔ Tech Repair ➔ Faculty QA ➔ Public Feed</a:t>
            </a:r>
          </a:p>
          <a:p>
            <a:pPr>
              <a:defRPr sz="1100">
                <a:solidFill>
                  <a:srgbClr val="E2E8F0"/>
                </a:solidFill>
              </a:defRPr>
            </a:pPr>
            <a:r>
              <a:t>• All pages share consistent navigation bars, theme states, session tokens, and instant modal complaint submission.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20040"/>
            <a:ext cx="10698480" cy="274320"/>
          </a:xfrm>
          <a:prstGeom prst="rect">
            <a:avLst/>
          </a:prstGeom>
          <a:noFill/>
        </p:spPr>
        <p:txBody>
          <a:bodyPr wrap="square" lIns="0" tIns="0" rIns="0" bIns="0">
            <a:spAutoFit/>
          </a:bodyPr>
          <a:lstStyle/>
          <a:p>
            <a:pPr>
              <a:defRPr sz="1000" b="1">
                <a:solidFill>
                  <a:srgbClr val="06B6D4"/>
                </a:solidFill>
                <a:latin typeface="Calibri"/>
              </a:defRPr>
            </a:pPr>
            <a:r>
              <a:t>CAMPUS CONNECT | WEB ENGINEERING PROJECT</a:t>
            </a:r>
          </a:p>
        </p:txBody>
      </p:sp>
      <p:sp>
        <p:nvSpPr>
          <p:cNvPr id="4" name="TextBox 3"/>
          <p:cNvSpPr txBox="1"/>
          <p:nvPr/>
        </p:nvSpPr>
        <p:spPr>
          <a:xfrm>
            <a:off x="731520" y="594360"/>
            <a:ext cx="10698480" cy="548640"/>
          </a:xfrm>
          <a:prstGeom prst="rect">
            <a:avLst/>
          </a:prstGeom>
          <a:noFill/>
        </p:spPr>
        <p:txBody>
          <a:bodyPr wrap="square" lIns="0" tIns="0" rIns="0" bIns="0">
            <a:spAutoFit/>
          </a:bodyPr>
          <a:lstStyle/>
          <a:p>
            <a:pPr>
              <a:defRPr sz="2200" b="1">
                <a:solidFill>
                  <a:srgbClr val="FFFFFF"/>
                </a:solidFill>
                <a:latin typeface="Segoe UI"/>
              </a:defRPr>
            </a:pPr>
            <a:r>
              <a:t>JavaScript Functionality &amp; Dynamic Engine</a:t>
            </a:r>
          </a:p>
        </p:txBody>
      </p:sp>
      <p:sp>
        <p:nvSpPr>
          <p:cNvPr id="5" name="Rectangle 4"/>
          <p:cNvSpPr/>
          <p:nvPr/>
        </p:nvSpPr>
        <p:spPr>
          <a:xfrm>
            <a:off x="731520" y="1188720"/>
            <a:ext cx="2011680" cy="36576"/>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3474720" cy="2194560"/>
          </a:xfrm>
          <a:prstGeom prst="roundRect">
            <a:avLst/>
          </a:prstGeom>
          <a:solidFill>
            <a:srgbClr val="131D36"/>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45920"/>
            <a:ext cx="3108960" cy="1828800"/>
          </a:xfrm>
          <a:prstGeom prst="rect">
            <a:avLst/>
          </a:prstGeom>
          <a:noFill/>
        </p:spPr>
        <p:txBody>
          <a:bodyPr wrap="square">
            <a:spAutoFit/>
          </a:bodyPr>
          <a:lstStyle/>
          <a:p>
            <a:pPr>
              <a:spcAft>
                <a:spcPts val="800"/>
              </a:spcAft>
              <a:defRPr sz="1200" b="1">
                <a:solidFill>
                  <a:srgbClr val="2563EB"/>
                </a:solidFill>
              </a:defRPr>
            </a:pPr>
            <a:r>
              <a:t>State Machine (main.js)</a:t>
            </a:r>
          </a:p>
          <a:p>
            <a:pPr>
              <a:defRPr sz="1100">
                <a:solidFill>
                  <a:srgbClr val="E2E8F0"/>
                </a:solidFill>
              </a:defRPr>
            </a:pPr>
            <a:r>
              <a:t>Calculates 7-stage progress (14% → 100%), manages LocalStorage persistence, and handles session SLA timeouts.</a:t>
            </a:r>
          </a:p>
        </p:txBody>
      </p:sp>
      <p:sp>
        <p:nvSpPr>
          <p:cNvPr id="8" name="Rounded Rectangle 7"/>
          <p:cNvSpPr/>
          <p:nvPr/>
        </p:nvSpPr>
        <p:spPr>
          <a:xfrm>
            <a:off x="4343400" y="1463040"/>
            <a:ext cx="3474720" cy="2194560"/>
          </a:xfrm>
          <a:prstGeom prst="roundRect">
            <a:avLst/>
          </a:prstGeom>
          <a:solidFill>
            <a:srgbClr val="131D36"/>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26280" y="1645920"/>
            <a:ext cx="3108960" cy="1828800"/>
          </a:xfrm>
          <a:prstGeom prst="rect">
            <a:avLst/>
          </a:prstGeom>
          <a:noFill/>
        </p:spPr>
        <p:txBody>
          <a:bodyPr wrap="square">
            <a:spAutoFit/>
          </a:bodyPr>
          <a:lstStyle/>
          <a:p>
            <a:pPr>
              <a:spcAft>
                <a:spcPts val="800"/>
              </a:spcAft>
              <a:defRPr sz="1200" b="1">
                <a:solidFill>
                  <a:srgbClr val="7C3AED"/>
                </a:solidFill>
              </a:defRPr>
            </a:pPr>
            <a:r>
              <a:t>Role Engine (roles.js)</a:t>
            </a:r>
          </a:p>
          <a:p>
            <a:pPr>
              <a:defRPr sz="1100">
                <a:solidFill>
                  <a:srgbClr val="E2E8F0"/>
                </a:solidFill>
              </a:defRPr>
            </a:pPr>
            <a:r>
              <a:t>Renders dynamic dashboards for 4 roles, manages Chart.js graphs, technician dispatch modals, and faculty QA verification.</a:t>
            </a:r>
          </a:p>
        </p:txBody>
      </p:sp>
      <p:sp>
        <p:nvSpPr>
          <p:cNvPr id="10" name="Rounded Rectangle 9"/>
          <p:cNvSpPr/>
          <p:nvPr/>
        </p:nvSpPr>
        <p:spPr>
          <a:xfrm>
            <a:off x="7955280" y="1463040"/>
            <a:ext cx="3474720" cy="2194560"/>
          </a:xfrm>
          <a:prstGeom prst="roundRect">
            <a:avLst/>
          </a:prstGeom>
          <a:solidFill>
            <a:srgbClr val="131D36"/>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38160" y="1645920"/>
            <a:ext cx="3108960" cy="1828800"/>
          </a:xfrm>
          <a:prstGeom prst="rect">
            <a:avLst/>
          </a:prstGeom>
          <a:noFill/>
        </p:spPr>
        <p:txBody>
          <a:bodyPr wrap="square">
            <a:spAutoFit/>
          </a:bodyPr>
          <a:lstStyle/>
          <a:p>
            <a:pPr>
              <a:spcAft>
                <a:spcPts val="800"/>
              </a:spcAft>
              <a:defRPr sz="1200" b="1">
                <a:solidFill>
                  <a:srgbClr val="06B6D4"/>
                </a:solidFill>
              </a:defRPr>
            </a:pPr>
            <a:r>
              <a:t>Complaint Engine (portal.js)</a:t>
            </a:r>
          </a:p>
          <a:p>
            <a:pPr>
              <a:defRPr sz="1100">
                <a:solidFill>
                  <a:srgbClr val="E2E8F0"/>
                </a:solidFill>
              </a:defRPr>
            </a:pPr>
            <a:r>
              <a:t>Processes complaint submissions, base64 media uploads, keyword hazard detection, and ticket generation.</a:t>
            </a:r>
          </a:p>
        </p:txBody>
      </p:sp>
      <p:sp>
        <p:nvSpPr>
          <p:cNvPr id="12" name="Rounded Rectangle 11"/>
          <p:cNvSpPr/>
          <p:nvPr/>
        </p:nvSpPr>
        <p:spPr>
          <a:xfrm>
            <a:off x="731520" y="3886200"/>
            <a:ext cx="3474720" cy="2194560"/>
          </a:xfrm>
          <a:prstGeom prst="roundRect">
            <a:avLst/>
          </a:prstGeom>
          <a:solidFill>
            <a:srgbClr val="131D36"/>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4069080"/>
            <a:ext cx="3108960" cy="1828800"/>
          </a:xfrm>
          <a:prstGeom prst="rect">
            <a:avLst/>
          </a:prstGeom>
          <a:noFill/>
        </p:spPr>
        <p:txBody>
          <a:bodyPr wrap="square">
            <a:spAutoFit/>
          </a:bodyPr>
          <a:lstStyle/>
          <a:p>
            <a:pPr>
              <a:spcAft>
                <a:spcPts val="800"/>
              </a:spcAft>
              <a:defRPr sz="1200" b="1">
                <a:solidFill>
                  <a:srgbClr val="F59E0B"/>
                </a:solidFill>
              </a:defRPr>
            </a:pPr>
            <a:r>
              <a:t>Authentication Engine (login.js)</a:t>
            </a:r>
          </a:p>
          <a:p>
            <a:pPr>
              <a:defRPr sz="1100">
                <a:solidFill>
                  <a:srgbClr val="E2E8F0"/>
                </a:solidFill>
              </a:defRPr>
            </a:pPr>
            <a:r>
              <a:t>Validates multi-role credentials, verifies user accounts, and creates secure session tokens.</a:t>
            </a:r>
          </a:p>
        </p:txBody>
      </p:sp>
      <p:sp>
        <p:nvSpPr>
          <p:cNvPr id="14" name="Rounded Rectangle 13"/>
          <p:cNvSpPr/>
          <p:nvPr/>
        </p:nvSpPr>
        <p:spPr>
          <a:xfrm>
            <a:off x="4343400" y="3886200"/>
            <a:ext cx="3474720" cy="2194560"/>
          </a:xfrm>
          <a:prstGeom prst="roundRect">
            <a:avLst/>
          </a:prstGeom>
          <a:solidFill>
            <a:srgbClr val="131D3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26280" y="4069080"/>
            <a:ext cx="3108960" cy="1828800"/>
          </a:xfrm>
          <a:prstGeom prst="rect">
            <a:avLst/>
          </a:prstGeom>
          <a:noFill/>
        </p:spPr>
        <p:txBody>
          <a:bodyPr wrap="square">
            <a:spAutoFit/>
          </a:bodyPr>
          <a:lstStyle/>
          <a:p>
            <a:pPr>
              <a:spcAft>
                <a:spcPts val="800"/>
              </a:spcAft>
              <a:defRPr sz="1200" b="1">
                <a:solidFill>
                  <a:srgbClr val="10B981"/>
                </a:solidFill>
              </a:defRPr>
            </a:pPr>
            <a:r>
              <a:t>Feed Engine (feed.js)</a:t>
            </a:r>
          </a:p>
          <a:p>
            <a:pPr>
              <a:defRPr sz="1100">
                <a:solidFill>
                  <a:srgbClr val="E2E8F0"/>
                </a:solidFill>
              </a:defRPr>
            </a:pPr>
            <a:r>
              <a:t>Provides live department filtering, client-side search, and resolution proof lightbox modal popups.</a:t>
            </a:r>
          </a:p>
        </p:txBody>
      </p:sp>
      <p:sp>
        <p:nvSpPr>
          <p:cNvPr id="16" name="Rounded Rectangle 15"/>
          <p:cNvSpPr/>
          <p:nvPr/>
        </p:nvSpPr>
        <p:spPr>
          <a:xfrm>
            <a:off x="7955280" y="3886200"/>
            <a:ext cx="3474720" cy="2194560"/>
          </a:xfrm>
          <a:prstGeom prst="roundRect">
            <a:avLst/>
          </a:prstGeom>
          <a:solidFill>
            <a:srgbClr val="131D36"/>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38160" y="4069080"/>
            <a:ext cx="3108960" cy="1828800"/>
          </a:xfrm>
          <a:prstGeom prst="rect">
            <a:avLst/>
          </a:prstGeom>
          <a:noFill/>
        </p:spPr>
        <p:txBody>
          <a:bodyPr wrap="square">
            <a:spAutoFit/>
          </a:bodyPr>
          <a:lstStyle/>
          <a:p>
            <a:pPr>
              <a:spcAft>
                <a:spcPts val="800"/>
              </a:spcAft>
              <a:defRPr sz="1200" b="1">
                <a:solidFill>
                  <a:srgbClr val="EF4444"/>
                </a:solidFill>
              </a:defRPr>
            </a:pPr>
            <a:r>
              <a:t>Visual Effects (animations.js)</a:t>
            </a:r>
          </a:p>
          <a:p>
            <a:pPr>
              <a:defRPr sz="1100">
                <a:solidFill>
                  <a:srgbClr val="E2E8F0"/>
                </a:solidFill>
              </a:defRPr>
            </a:pPr>
            <a:r>
              <a:t>Powers 3D card tilt effects, intersection-observer scroll reveals, and toast notification alerts.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20040"/>
            <a:ext cx="10698480" cy="274320"/>
          </a:xfrm>
          <a:prstGeom prst="rect">
            <a:avLst/>
          </a:prstGeom>
          <a:noFill/>
        </p:spPr>
        <p:txBody>
          <a:bodyPr wrap="square" lIns="0" tIns="0" rIns="0" bIns="0">
            <a:spAutoFit/>
          </a:bodyPr>
          <a:lstStyle/>
          <a:p>
            <a:pPr>
              <a:defRPr sz="1000" b="1">
                <a:solidFill>
                  <a:srgbClr val="06B6D4"/>
                </a:solidFill>
                <a:latin typeface="Calibri"/>
              </a:defRPr>
            </a:pPr>
            <a:r>
              <a:t>CAMPUS CONNECT | WEB ENGINEERING PROJECT</a:t>
            </a:r>
          </a:p>
        </p:txBody>
      </p:sp>
      <p:sp>
        <p:nvSpPr>
          <p:cNvPr id="4" name="TextBox 3"/>
          <p:cNvSpPr txBox="1"/>
          <p:nvPr/>
        </p:nvSpPr>
        <p:spPr>
          <a:xfrm>
            <a:off x="731520" y="594360"/>
            <a:ext cx="10698480" cy="548640"/>
          </a:xfrm>
          <a:prstGeom prst="rect">
            <a:avLst/>
          </a:prstGeom>
          <a:noFill/>
        </p:spPr>
        <p:txBody>
          <a:bodyPr wrap="square" lIns="0" tIns="0" rIns="0" bIns="0">
            <a:spAutoFit/>
          </a:bodyPr>
          <a:lstStyle/>
          <a:p>
            <a:pPr>
              <a:defRPr sz="2200" b="1">
                <a:solidFill>
                  <a:srgbClr val="FFFFFF"/>
                </a:solidFill>
                <a:latin typeface="Segoe UI"/>
              </a:defRPr>
            </a:pPr>
            <a:r>
              <a:t>UI/UX &amp; Design Features: Modern Cyber-Campus Aesthetic</a:t>
            </a:r>
          </a:p>
        </p:txBody>
      </p:sp>
      <p:sp>
        <p:nvSpPr>
          <p:cNvPr id="5" name="Rectangle 4"/>
          <p:cNvSpPr/>
          <p:nvPr/>
        </p:nvSpPr>
        <p:spPr>
          <a:xfrm>
            <a:off x="731520" y="1188720"/>
            <a:ext cx="2011680" cy="36576"/>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3474720" cy="2194560"/>
          </a:xfrm>
          <a:prstGeom prst="roundRect">
            <a:avLst/>
          </a:prstGeom>
          <a:solidFill>
            <a:srgbClr val="131D36"/>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45920"/>
            <a:ext cx="3108960" cy="1828800"/>
          </a:xfrm>
          <a:prstGeom prst="rect">
            <a:avLst/>
          </a:prstGeom>
          <a:noFill/>
        </p:spPr>
        <p:txBody>
          <a:bodyPr wrap="square">
            <a:spAutoFit/>
          </a:bodyPr>
          <a:lstStyle/>
          <a:p>
            <a:pPr>
              <a:spcAft>
                <a:spcPts val="800"/>
              </a:spcAft>
              <a:defRPr sz="1200" b="1">
                <a:solidFill>
                  <a:srgbClr val="06B6D4"/>
                </a:solidFill>
              </a:defRPr>
            </a:pPr>
            <a:r>
              <a:t>Glassmorphism &amp; Backdrop Blur</a:t>
            </a:r>
          </a:p>
          <a:p>
            <a:pPr>
              <a:defRPr sz="1100">
                <a:solidFill>
                  <a:srgbClr val="E2E8F0"/>
                </a:solidFill>
              </a:defRPr>
            </a:pPr>
            <a:r>
              <a:t>Translucent card panels with backdrop-blur effects create modern visual depth and hierarchy.</a:t>
            </a:r>
          </a:p>
        </p:txBody>
      </p:sp>
      <p:sp>
        <p:nvSpPr>
          <p:cNvPr id="8" name="Rounded Rectangle 7"/>
          <p:cNvSpPr/>
          <p:nvPr/>
        </p:nvSpPr>
        <p:spPr>
          <a:xfrm>
            <a:off x="4343400" y="1463040"/>
            <a:ext cx="3474720" cy="2194560"/>
          </a:xfrm>
          <a:prstGeom prst="roundRect">
            <a:avLst/>
          </a:prstGeom>
          <a:solidFill>
            <a:srgbClr val="131D36"/>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26280" y="1645920"/>
            <a:ext cx="3108960" cy="1828800"/>
          </a:xfrm>
          <a:prstGeom prst="rect">
            <a:avLst/>
          </a:prstGeom>
          <a:noFill/>
        </p:spPr>
        <p:txBody>
          <a:bodyPr wrap="square">
            <a:spAutoFit/>
          </a:bodyPr>
          <a:lstStyle/>
          <a:p>
            <a:pPr>
              <a:spcAft>
                <a:spcPts val="800"/>
              </a:spcAft>
              <a:defRPr sz="1200" b="1">
                <a:solidFill>
                  <a:srgbClr val="7C3AED"/>
                </a:solidFill>
              </a:defRPr>
            </a:pPr>
            <a:r>
              <a:t>Dark &amp; Light Mode Support</a:t>
            </a:r>
          </a:p>
          <a:p>
            <a:pPr>
              <a:defRPr sz="1100">
                <a:solidFill>
                  <a:srgbClr val="E2E8F0"/>
                </a:solidFill>
              </a:defRPr>
            </a:pPr>
            <a:r>
              <a:t>Seamless theme toggling with curated HSL color tokens for comfortable viewing in any lighting.</a:t>
            </a:r>
          </a:p>
        </p:txBody>
      </p:sp>
      <p:sp>
        <p:nvSpPr>
          <p:cNvPr id="10" name="Rounded Rectangle 9"/>
          <p:cNvSpPr/>
          <p:nvPr/>
        </p:nvSpPr>
        <p:spPr>
          <a:xfrm>
            <a:off x="7955280" y="1463040"/>
            <a:ext cx="3474720" cy="2194560"/>
          </a:xfrm>
          <a:prstGeom prst="roundRect">
            <a:avLst/>
          </a:prstGeom>
          <a:solidFill>
            <a:srgbClr val="131D36"/>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38160" y="1645920"/>
            <a:ext cx="3108960" cy="1828800"/>
          </a:xfrm>
          <a:prstGeom prst="rect">
            <a:avLst/>
          </a:prstGeom>
          <a:noFill/>
        </p:spPr>
        <p:txBody>
          <a:bodyPr wrap="square">
            <a:spAutoFit/>
          </a:bodyPr>
          <a:lstStyle/>
          <a:p>
            <a:pPr>
              <a:spcAft>
                <a:spcPts val="800"/>
              </a:spcAft>
              <a:defRPr sz="1200" b="1">
                <a:solidFill>
                  <a:srgbClr val="2563EB"/>
                </a:solidFill>
              </a:defRPr>
            </a:pPr>
            <a:r>
              <a:t>3D Tilt Interactive Cards</a:t>
            </a:r>
          </a:p>
          <a:p>
            <a:pPr>
              <a:defRPr sz="1100">
                <a:solidFill>
                  <a:srgbClr val="E2E8F0"/>
                </a:solidFill>
              </a:defRPr>
            </a:pPr>
            <a:r>
              <a:t>Interactive cards tilt smoothly in response to mouse movement for an engaging tactile feel.</a:t>
            </a:r>
          </a:p>
        </p:txBody>
      </p:sp>
      <p:sp>
        <p:nvSpPr>
          <p:cNvPr id="12" name="Rounded Rectangle 11"/>
          <p:cNvSpPr/>
          <p:nvPr/>
        </p:nvSpPr>
        <p:spPr>
          <a:xfrm>
            <a:off x="731520" y="3886200"/>
            <a:ext cx="3474720" cy="2194560"/>
          </a:xfrm>
          <a:prstGeom prst="roundRect">
            <a:avLst/>
          </a:prstGeom>
          <a:solidFill>
            <a:srgbClr val="131D3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4069080"/>
            <a:ext cx="3108960" cy="1828800"/>
          </a:xfrm>
          <a:prstGeom prst="rect">
            <a:avLst/>
          </a:prstGeom>
          <a:noFill/>
        </p:spPr>
        <p:txBody>
          <a:bodyPr wrap="square">
            <a:spAutoFit/>
          </a:bodyPr>
          <a:lstStyle/>
          <a:p>
            <a:pPr>
              <a:spcAft>
                <a:spcPts val="800"/>
              </a:spcAft>
              <a:defRPr sz="1200" b="1">
                <a:solidFill>
                  <a:srgbClr val="10B981"/>
                </a:solidFill>
              </a:defRPr>
            </a:pPr>
            <a:r>
              <a:t>Scroll Reveal Micro-Animations</a:t>
            </a:r>
          </a:p>
          <a:p>
            <a:pPr>
              <a:defRPr sz="1100">
                <a:solidFill>
                  <a:srgbClr val="E2E8F0"/>
                </a:solidFill>
              </a:defRPr>
            </a:pPr>
            <a:r>
              <a:t>Elements animate into view as the user scrolls, creating a dynamic, responsive experience.</a:t>
            </a:r>
          </a:p>
        </p:txBody>
      </p:sp>
      <p:sp>
        <p:nvSpPr>
          <p:cNvPr id="14" name="Rounded Rectangle 13"/>
          <p:cNvSpPr/>
          <p:nvPr/>
        </p:nvSpPr>
        <p:spPr>
          <a:xfrm>
            <a:off x="4343400" y="3886200"/>
            <a:ext cx="3474720" cy="2194560"/>
          </a:xfrm>
          <a:prstGeom prst="roundRect">
            <a:avLst/>
          </a:prstGeom>
          <a:solidFill>
            <a:srgbClr val="131D36"/>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26280" y="4069080"/>
            <a:ext cx="3108960" cy="1828800"/>
          </a:xfrm>
          <a:prstGeom prst="rect">
            <a:avLst/>
          </a:prstGeom>
          <a:noFill/>
        </p:spPr>
        <p:txBody>
          <a:bodyPr wrap="square">
            <a:spAutoFit/>
          </a:bodyPr>
          <a:lstStyle/>
          <a:p>
            <a:pPr>
              <a:spcAft>
                <a:spcPts val="800"/>
              </a:spcAft>
              <a:defRPr sz="1200" b="1">
                <a:solidFill>
                  <a:srgbClr val="F59E0B"/>
                </a:solidFill>
              </a:defRPr>
            </a:pPr>
            <a:r>
              <a:t>Accessible Responsive Layouts</a:t>
            </a:r>
          </a:p>
          <a:p>
            <a:pPr>
              <a:defRPr sz="1100">
                <a:solidFill>
                  <a:srgbClr val="E2E8F0"/>
                </a:solidFill>
              </a:defRPr>
            </a:pPr>
            <a:r>
              <a:t>Mobile-first responsive grid system adapts cleanly from mobile screens to 4K displays.</a:t>
            </a:r>
          </a:p>
        </p:txBody>
      </p:sp>
      <p:sp>
        <p:nvSpPr>
          <p:cNvPr id="16" name="Rounded Rectangle 15"/>
          <p:cNvSpPr/>
          <p:nvPr/>
        </p:nvSpPr>
        <p:spPr>
          <a:xfrm>
            <a:off x="7955280" y="3886200"/>
            <a:ext cx="3474720" cy="2194560"/>
          </a:xfrm>
          <a:prstGeom prst="roundRect">
            <a:avLst/>
          </a:prstGeom>
          <a:solidFill>
            <a:srgbClr val="131D36"/>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38160" y="4069080"/>
            <a:ext cx="3108960" cy="1828800"/>
          </a:xfrm>
          <a:prstGeom prst="rect">
            <a:avLst/>
          </a:prstGeom>
          <a:noFill/>
        </p:spPr>
        <p:txBody>
          <a:bodyPr wrap="square">
            <a:spAutoFit/>
          </a:bodyPr>
          <a:lstStyle/>
          <a:p>
            <a:pPr>
              <a:spcAft>
                <a:spcPts val="800"/>
              </a:spcAft>
              <a:defRPr sz="1200" b="1">
                <a:solidFill>
                  <a:srgbClr val="EF4444"/>
                </a:solidFill>
              </a:defRPr>
            </a:pPr>
            <a:r>
              <a:t>Visual Progress Steppers</a:t>
            </a:r>
          </a:p>
          <a:p>
            <a:pPr>
              <a:defRPr sz="1100">
                <a:solidFill>
                  <a:srgbClr val="E2E8F0"/>
                </a:solidFill>
              </a:defRPr>
            </a:pPr>
            <a:r>
              <a:t>7-stage milestone checklist with clear color-coded badges gives instant status recognition.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20040"/>
            <a:ext cx="10698480" cy="274320"/>
          </a:xfrm>
          <a:prstGeom prst="rect">
            <a:avLst/>
          </a:prstGeom>
          <a:noFill/>
        </p:spPr>
        <p:txBody>
          <a:bodyPr wrap="square" lIns="0" tIns="0" rIns="0" bIns="0">
            <a:spAutoFit/>
          </a:bodyPr>
          <a:lstStyle/>
          <a:p>
            <a:pPr>
              <a:defRPr sz="1000" b="1">
                <a:solidFill>
                  <a:srgbClr val="06B6D4"/>
                </a:solidFill>
                <a:latin typeface="Calibri"/>
              </a:defRPr>
            </a:pPr>
            <a:r>
              <a:t>CAMPUS CONNECT | WEB ENGINEERING PROJECT</a:t>
            </a:r>
          </a:p>
        </p:txBody>
      </p:sp>
      <p:sp>
        <p:nvSpPr>
          <p:cNvPr id="4" name="TextBox 3"/>
          <p:cNvSpPr txBox="1"/>
          <p:nvPr/>
        </p:nvSpPr>
        <p:spPr>
          <a:xfrm>
            <a:off x="731520" y="594360"/>
            <a:ext cx="10698480" cy="548640"/>
          </a:xfrm>
          <a:prstGeom prst="rect">
            <a:avLst/>
          </a:prstGeom>
          <a:noFill/>
        </p:spPr>
        <p:txBody>
          <a:bodyPr wrap="square" lIns="0" tIns="0" rIns="0" bIns="0">
            <a:spAutoFit/>
          </a:bodyPr>
          <a:lstStyle/>
          <a:p>
            <a:pPr>
              <a:defRPr sz="2200" b="1">
                <a:solidFill>
                  <a:srgbClr val="FFFFFF"/>
                </a:solidFill>
                <a:latin typeface="Segoe UI"/>
              </a:defRPr>
            </a:pPr>
            <a:r>
              <a:t>Comprehensive Key Features Grid</a:t>
            </a:r>
          </a:p>
        </p:txBody>
      </p:sp>
      <p:sp>
        <p:nvSpPr>
          <p:cNvPr id="5" name="Rectangle 4"/>
          <p:cNvSpPr/>
          <p:nvPr/>
        </p:nvSpPr>
        <p:spPr>
          <a:xfrm>
            <a:off x="731520" y="1188720"/>
            <a:ext cx="2011680" cy="36576"/>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2560320" cy="1463040"/>
          </a:xfrm>
          <a:prstGeom prst="roundRect">
            <a:avLst/>
          </a:prstGeom>
          <a:solidFill>
            <a:srgbClr val="131D36"/>
          </a:solidFill>
          <a:ln>
            <a:solidFill>
              <a:srgbClr val="2735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1600200"/>
            <a:ext cx="2286000" cy="1188720"/>
          </a:xfrm>
          <a:prstGeom prst="rect">
            <a:avLst/>
          </a:prstGeom>
          <a:noFill/>
        </p:spPr>
        <p:txBody>
          <a:bodyPr wrap="square">
            <a:spAutoFit/>
          </a:bodyPr>
          <a:lstStyle/>
          <a:p>
            <a:pPr>
              <a:spcAft>
                <a:spcPts val="300"/>
              </a:spcAft>
              <a:defRPr sz="1100" b="1">
                <a:solidFill>
                  <a:srgbClr val="06B6D4"/>
                </a:solidFill>
              </a:defRPr>
            </a:pPr>
            <a:r>
              <a:t>✔ Multi-Role Governance</a:t>
            </a:r>
          </a:p>
          <a:p>
            <a:pPr>
              <a:defRPr sz="950">
                <a:solidFill>
                  <a:srgbClr val="E2E8F0"/>
                </a:solidFill>
              </a:defRPr>
            </a:pPr>
            <a:r>
              <a:t>Dedicated interfaces for Students, Admin, Techs, and Faculty.</a:t>
            </a:r>
          </a:p>
        </p:txBody>
      </p:sp>
      <p:sp>
        <p:nvSpPr>
          <p:cNvPr id="8" name="Rounded Rectangle 7"/>
          <p:cNvSpPr/>
          <p:nvPr/>
        </p:nvSpPr>
        <p:spPr>
          <a:xfrm>
            <a:off x="3429000" y="1463040"/>
            <a:ext cx="2560320" cy="1463040"/>
          </a:xfrm>
          <a:prstGeom prst="roundRect">
            <a:avLst/>
          </a:prstGeom>
          <a:solidFill>
            <a:srgbClr val="131D36"/>
          </a:solidFill>
          <a:ln>
            <a:solidFill>
              <a:srgbClr val="2735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566160" y="1600200"/>
            <a:ext cx="2286000" cy="1188720"/>
          </a:xfrm>
          <a:prstGeom prst="rect">
            <a:avLst/>
          </a:prstGeom>
          <a:noFill/>
        </p:spPr>
        <p:txBody>
          <a:bodyPr wrap="square">
            <a:spAutoFit/>
          </a:bodyPr>
          <a:lstStyle/>
          <a:p>
            <a:pPr>
              <a:spcAft>
                <a:spcPts val="300"/>
              </a:spcAft>
              <a:defRPr sz="1100" b="1">
                <a:solidFill>
                  <a:srgbClr val="06B6D4"/>
                </a:solidFill>
              </a:defRPr>
            </a:pPr>
            <a:r>
              <a:t>✔ Evidence Capture</a:t>
            </a:r>
          </a:p>
          <a:p>
            <a:pPr>
              <a:defRPr sz="950">
                <a:solidFill>
                  <a:srgbClr val="E2E8F0"/>
                </a:solidFill>
              </a:defRPr>
            </a:pPr>
            <a:r>
              <a:t>Photo and video evidence upload with base64 storage.</a:t>
            </a:r>
          </a:p>
        </p:txBody>
      </p:sp>
      <p:sp>
        <p:nvSpPr>
          <p:cNvPr id="10" name="Rounded Rectangle 9"/>
          <p:cNvSpPr/>
          <p:nvPr/>
        </p:nvSpPr>
        <p:spPr>
          <a:xfrm>
            <a:off x="6126480" y="1463040"/>
            <a:ext cx="2560320" cy="1463040"/>
          </a:xfrm>
          <a:prstGeom prst="roundRect">
            <a:avLst/>
          </a:prstGeom>
          <a:solidFill>
            <a:srgbClr val="131D36"/>
          </a:solidFill>
          <a:ln>
            <a:solidFill>
              <a:srgbClr val="2735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63640" y="1600200"/>
            <a:ext cx="2286000" cy="1188720"/>
          </a:xfrm>
          <a:prstGeom prst="rect">
            <a:avLst/>
          </a:prstGeom>
          <a:noFill/>
        </p:spPr>
        <p:txBody>
          <a:bodyPr wrap="square">
            <a:spAutoFit/>
          </a:bodyPr>
          <a:lstStyle/>
          <a:p>
            <a:pPr>
              <a:spcAft>
                <a:spcPts val="300"/>
              </a:spcAft>
              <a:defRPr sz="1100" b="1">
                <a:solidFill>
                  <a:srgbClr val="06B6D4"/>
                </a:solidFill>
              </a:defRPr>
            </a:pPr>
            <a:r>
              <a:t>✔ Hazard Detection</a:t>
            </a:r>
          </a:p>
          <a:p>
            <a:pPr>
              <a:defRPr sz="950">
                <a:solidFill>
                  <a:srgbClr val="E2E8F0"/>
                </a:solidFill>
              </a:defRPr>
            </a:pPr>
            <a:r>
              <a:t>Auto-priority escalation for electrical &amp; structural hazards.</a:t>
            </a:r>
          </a:p>
        </p:txBody>
      </p:sp>
      <p:sp>
        <p:nvSpPr>
          <p:cNvPr id="12" name="Rounded Rectangle 11"/>
          <p:cNvSpPr/>
          <p:nvPr/>
        </p:nvSpPr>
        <p:spPr>
          <a:xfrm>
            <a:off x="8823960" y="1463040"/>
            <a:ext cx="2560320" cy="1463040"/>
          </a:xfrm>
          <a:prstGeom prst="roundRect">
            <a:avLst/>
          </a:prstGeom>
          <a:solidFill>
            <a:srgbClr val="131D36"/>
          </a:solidFill>
          <a:ln>
            <a:solidFill>
              <a:srgbClr val="2735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961120" y="1600200"/>
            <a:ext cx="2286000" cy="1188720"/>
          </a:xfrm>
          <a:prstGeom prst="rect">
            <a:avLst/>
          </a:prstGeom>
          <a:noFill/>
        </p:spPr>
        <p:txBody>
          <a:bodyPr wrap="square">
            <a:spAutoFit/>
          </a:bodyPr>
          <a:lstStyle/>
          <a:p>
            <a:pPr>
              <a:spcAft>
                <a:spcPts val="300"/>
              </a:spcAft>
              <a:defRPr sz="1100" b="1">
                <a:solidFill>
                  <a:srgbClr val="06B6D4"/>
                </a:solidFill>
              </a:defRPr>
            </a:pPr>
            <a:r>
              <a:t>✔ Admin Dispatching</a:t>
            </a:r>
          </a:p>
          <a:p>
            <a:pPr>
              <a:defRPr sz="950">
                <a:solidFill>
                  <a:srgbClr val="E2E8F0"/>
                </a:solidFill>
              </a:defRPr>
            </a:pPr>
            <a:r>
              <a:t>Direct assignment to specialized technicians with deadlines.</a:t>
            </a:r>
          </a:p>
        </p:txBody>
      </p:sp>
      <p:sp>
        <p:nvSpPr>
          <p:cNvPr id="14" name="Rounded Rectangle 13"/>
          <p:cNvSpPr/>
          <p:nvPr/>
        </p:nvSpPr>
        <p:spPr>
          <a:xfrm>
            <a:off x="731520" y="3063240"/>
            <a:ext cx="2560320" cy="1463040"/>
          </a:xfrm>
          <a:prstGeom prst="roundRect">
            <a:avLst/>
          </a:prstGeom>
          <a:solidFill>
            <a:srgbClr val="131D36"/>
          </a:solidFill>
          <a:ln>
            <a:solidFill>
              <a:srgbClr val="2735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8680" y="3200400"/>
            <a:ext cx="2286000" cy="1188720"/>
          </a:xfrm>
          <a:prstGeom prst="rect">
            <a:avLst/>
          </a:prstGeom>
          <a:noFill/>
        </p:spPr>
        <p:txBody>
          <a:bodyPr wrap="square">
            <a:spAutoFit/>
          </a:bodyPr>
          <a:lstStyle/>
          <a:p>
            <a:pPr>
              <a:spcAft>
                <a:spcPts val="300"/>
              </a:spcAft>
              <a:defRPr sz="1100" b="1">
                <a:solidFill>
                  <a:srgbClr val="06B6D4"/>
                </a:solidFill>
              </a:defRPr>
            </a:pPr>
            <a:r>
              <a:t>✔ Technician Queues</a:t>
            </a:r>
          </a:p>
          <a:p>
            <a:pPr>
              <a:defRPr sz="950">
                <a:solidFill>
                  <a:srgbClr val="E2E8F0"/>
                </a:solidFill>
              </a:defRPr>
            </a:pPr>
            <a:r>
              <a:t>Task acceptance, decline options, and repair logs.</a:t>
            </a:r>
          </a:p>
        </p:txBody>
      </p:sp>
      <p:sp>
        <p:nvSpPr>
          <p:cNvPr id="16" name="Rounded Rectangle 15"/>
          <p:cNvSpPr/>
          <p:nvPr/>
        </p:nvSpPr>
        <p:spPr>
          <a:xfrm>
            <a:off x="3429000" y="3063240"/>
            <a:ext cx="2560320" cy="1463040"/>
          </a:xfrm>
          <a:prstGeom prst="roundRect">
            <a:avLst/>
          </a:prstGeom>
          <a:solidFill>
            <a:srgbClr val="131D36"/>
          </a:solidFill>
          <a:ln>
            <a:solidFill>
              <a:srgbClr val="2735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566160" y="3200400"/>
            <a:ext cx="2286000" cy="1188720"/>
          </a:xfrm>
          <a:prstGeom prst="rect">
            <a:avLst/>
          </a:prstGeom>
          <a:noFill/>
        </p:spPr>
        <p:txBody>
          <a:bodyPr wrap="square">
            <a:spAutoFit/>
          </a:bodyPr>
          <a:lstStyle/>
          <a:p>
            <a:pPr>
              <a:spcAft>
                <a:spcPts val="300"/>
              </a:spcAft>
              <a:defRPr sz="1100" b="1">
                <a:solidFill>
                  <a:srgbClr val="06B6D4"/>
                </a:solidFill>
              </a:defRPr>
            </a:pPr>
            <a:r>
              <a:t>✔ Photo Proof Mandate</a:t>
            </a:r>
          </a:p>
          <a:p>
            <a:pPr>
              <a:defRPr sz="950">
                <a:solidFill>
                  <a:srgbClr val="E2E8F0"/>
                </a:solidFill>
              </a:defRPr>
            </a:pPr>
            <a:r>
              <a:t>Mandatory photographic proof of completed repair work.</a:t>
            </a:r>
          </a:p>
        </p:txBody>
      </p:sp>
      <p:sp>
        <p:nvSpPr>
          <p:cNvPr id="18" name="Rounded Rectangle 17"/>
          <p:cNvSpPr/>
          <p:nvPr/>
        </p:nvSpPr>
        <p:spPr>
          <a:xfrm>
            <a:off x="6126480" y="3063240"/>
            <a:ext cx="2560320" cy="1463040"/>
          </a:xfrm>
          <a:prstGeom prst="roundRect">
            <a:avLst/>
          </a:prstGeom>
          <a:solidFill>
            <a:srgbClr val="131D36"/>
          </a:solidFill>
          <a:ln>
            <a:solidFill>
              <a:srgbClr val="2735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63640" y="3200400"/>
            <a:ext cx="2286000" cy="1188720"/>
          </a:xfrm>
          <a:prstGeom prst="rect">
            <a:avLst/>
          </a:prstGeom>
          <a:noFill/>
        </p:spPr>
        <p:txBody>
          <a:bodyPr wrap="square">
            <a:spAutoFit/>
          </a:bodyPr>
          <a:lstStyle/>
          <a:p>
            <a:pPr>
              <a:spcAft>
                <a:spcPts val="300"/>
              </a:spcAft>
              <a:defRPr sz="1100" b="1">
                <a:solidFill>
                  <a:srgbClr val="06B6D4"/>
                </a:solidFill>
              </a:defRPr>
            </a:pPr>
            <a:r>
              <a:t>✔ Faculty QA Audit</a:t>
            </a:r>
          </a:p>
          <a:p>
            <a:pPr>
              <a:defRPr sz="950">
                <a:solidFill>
                  <a:srgbClr val="E2E8F0"/>
                </a:solidFill>
              </a:defRPr>
            </a:pPr>
            <a:r>
              <a:t>Physical inspection approval before final ticket resolution.</a:t>
            </a:r>
          </a:p>
        </p:txBody>
      </p:sp>
      <p:sp>
        <p:nvSpPr>
          <p:cNvPr id="20" name="Rounded Rectangle 19"/>
          <p:cNvSpPr/>
          <p:nvPr/>
        </p:nvSpPr>
        <p:spPr>
          <a:xfrm>
            <a:off x="8823960" y="3063240"/>
            <a:ext cx="2560320" cy="1463040"/>
          </a:xfrm>
          <a:prstGeom prst="roundRect">
            <a:avLst/>
          </a:prstGeom>
          <a:solidFill>
            <a:srgbClr val="131D36"/>
          </a:solidFill>
          <a:ln>
            <a:solidFill>
              <a:srgbClr val="2735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961120" y="3200400"/>
            <a:ext cx="2286000" cy="1188720"/>
          </a:xfrm>
          <a:prstGeom prst="rect">
            <a:avLst/>
          </a:prstGeom>
          <a:noFill/>
        </p:spPr>
        <p:txBody>
          <a:bodyPr wrap="square">
            <a:spAutoFit/>
          </a:bodyPr>
          <a:lstStyle/>
          <a:p>
            <a:pPr>
              <a:spcAft>
                <a:spcPts val="300"/>
              </a:spcAft>
              <a:defRPr sz="1100" b="1">
                <a:solidFill>
                  <a:srgbClr val="06B6D4"/>
                </a:solidFill>
              </a:defRPr>
            </a:pPr>
            <a:r>
              <a:t>✔ 7-Stage Stepper</a:t>
            </a:r>
          </a:p>
          <a:p>
            <a:pPr>
              <a:defRPr sz="950">
                <a:solidFill>
                  <a:srgbClr val="E2E8F0"/>
                </a:solidFill>
              </a:defRPr>
            </a:pPr>
            <a:r>
              <a:t>Live progress bar with transparent percentage tracking.</a:t>
            </a:r>
          </a:p>
        </p:txBody>
      </p:sp>
      <p:sp>
        <p:nvSpPr>
          <p:cNvPr id="22" name="Rounded Rectangle 21"/>
          <p:cNvSpPr/>
          <p:nvPr/>
        </p:nvSpPr>
        <p:spPr>
          <a:xfrm>
            <a:off x="731520" y="4663440"/>
            <a:ext cx="2560320" cy="1463040"/>
          </a:xfrm>
          <a:prstGeom prst="roundRect">
            <a:avLst/>
          </a:prstGeom>
          <a:solidFill>
            <a:srgbClr val="131D36"/>
          </a:solidFill>
          <a:ln>
            <a:solidFill>
              <a:srgbClr val="2735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68680" y="4800600"/>
            <a:ext cx="2286000" cy="1188720"/>
          </a:xfrm>
          <a:prstGeom prst="rect">
            <a:avLst/>
          </a:prstGeom>
          <a:noFill/>
        </p:spPr>
        <p:txBody>
          <a:bodyPr wrap="square">
            <a:spAutoFit/>
          </a:bodyPr>
          <a:lstStyle/>
          <a:p>
            <a:pPr>
              <a:spcAft>
                <a:spcPts val="300"/>
              </a:spcAft>
              <a:defRPr sz="1100" b="1">
                <a:solidFill>
                  <a:srgbClr val="06B6D4"/>
                </a:solidFill>
              </a:defRPr>
            </a:pPr>
            <a:r>
              <a:t>✔ Transparency Feed</a:t>
            </a:r>
          </a:p>
          <a:p>
            <a:pPr>
              <a:defRPr sz="950">
                <a:solidFill>
                  <a:srgbClr val="E2E8F0"/>
                </a:solidFill>
              </a:defRPr>
            </a:pPr>
            <a:r>
              <a:t>Public board with department filters and search.</a:t>
            </a:r>
          </a:p>
        </p:txBody>
      </p:sp>
      <p:sp>
        <p:nvSpPr>
          <p:cNvPr id="24" name="Rounded Rectangle 23"/>
          <p:cNvSpPr/>
          <p:nvPr/>
        </p:nvSpPr>
        <p:spPr>
          <a:xfrm>
            <a:off x="3429000" y="4663440"/>
            <a:ext cx="2560320" cy="1463040"/>
          </a:xfrm>
          <a:prstGeom prst="roundRect">
            <a:avLst/>
          </a:prstGeom>
          <a:solidFill>
            <a:srgbClr val="131D36"/>
          </a:solidFill>
          <a:ln>
            <a:solidFill>
              <a:srgbClr val="2735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566160" y="4800600"/>
            <a:ext cx="2286000" cy="1188720"/>
          </a:xfrm>
          <a:prstGeom prst="rect">
            <a:avLst/>
          </a:prstGeom>
          <a:noFill/>
        </p:spPr>
        <p:txBody>
          <a:bodyPr wrap="square">
            <a:spAutoFit/>
          </a:bodyPr>
          <a:lstStyle/>
          <a:p>
            <a:pPr>
              <a:spcAft>
                <a:spcPts val="300"/>
              </a:spcAft>
              <a:defRPr sz="1100" b="1">
                <a:solidFill>
                  <a:srgbClr val="06B6D4"/>
                </a:solidFill>
              </a:defRPr>
            </a:pPr>
            <a:r>
              <a:t>✔ Chart.js Analytics</a:t>
            </a:r>
          </a:p>
          <a:p>
            <a:pPr>
              <a:defRPr sz="950">
                <a:solidFill>
                  <a:srgbClr val="E2E8F0"/>
                </a:solidFill>
              </a:defRPr>
            </a:pPr>
            <a:r>
              <a:t>Interactive department distribution and SLA charts.</a:t>
            </a:r>
          </a:p>
        </p:txBody>
      </p:sp>
      <p:sp>
        <p:nvSpPr>
          <p:cNvPr id="26" name="Rounded Rectangle 25"/>
          <p:cNvSpPr/>
          <p:nvPr/>
        </p:nvSpPr>
        <p:spPr>
          <a:xfrm>
            <a:off x="6126480" y="4663440"/>
            <a:ext cx="2560320" cy="1463040"/>
          </a:xfrm>
          <a:prstGeom prst="roundRect">
            <a:avLst/>
          </a:prstGeom>
          <a:solidFill>
            <a:srgbClr val="131D36"/>
          </a:solidFill>
          <a:ln>
            <a:solidFill>
              <a:srgbClr val="2735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263640" y="4800600"/>
            <a:ext cx="2286000" cy="1188720"/>
          </a:xfrm>
          <a:prstGeom prst="rect">
            <a:avLst/>
          </a:prstGeom>
          <a:noFill/>
        </p:spPr>
        <p:txBody>
          <a:bodyPr wrap="square">
            <a:spAutoFit/>
          </a:bodyPr>
          <a:lstStyle/>
          <a:p>
            <a:pPr>
              <a:spcAft>
                <a:spcPts val="300"/>
              </a:spcAft>
              <a:defRPr sz="1100" b="1">
                <a:solidFill>
                  <a:srgbClr val="06B6D4"/>
                </a:solidFill>
              </a:defRPr>
            </a:pPr>
            <a:r>
              <a:t>✔ Dark/Light Mode</a:t>
            </a:r>
          </a:p>
          <a:p>
            <a:pPr>
              <a:defRPr sz="950">
                <a:solidFill>
                  <a:srgbClr val="E2E8F0"/>
                </a:solidFill>
              </a:defRPr>
            </a:pPr>
            <a:r>
              <a:t>Universal theme switcher with smooth CSS transitions.</a:t>
            </a:r>
          </a:p>
        </p:txBody>
      </p:sp>
      <p:sp>
        <p:nvSpPr>
          <p:cNvPr id="28" name="Rounded Rectangle 27"/>
          <p:cNvSpPr/>
          <p:nvPr/>
        </p:nvSpPr>
        <p:spPr>
          <a:xfrm>
            <a:off x="8823960" y="4663440"/>
            <a:ext cx="2560320" cy="1463040"/>
          </a:xfrm>
          <a:prstGeom prst="roundRect">
            <a:avLst/>
          </a:prstGeom>
          <a:solidFill>
            <a:srgbClr val="131D36"/>
          </a:solidFill>
          <a:ln>
            <a:solidFill>
              <a:srgbClr val="2735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961120" y="4800600"/>
            <a:ext cx="2286000" cy="1188720"/>
          </a:xfrm>
          <a:prstGeom prst="rect">
            <a:avLst/>
          </a:prstGeom>
          <a:noFill/>
        </p:spPr>
        <p:txBody>
          <a:bodyPr wrap="square">
            <a:spAutoFit/>
          </a:bodyPr>
          <a:lstStyle/>
          <a:p>
            <a:pPr>
              <a:spcAft>
                <a:spcPts val="300"/>
              </a:spcAft>
              <a:defRPr sz="1100" b="1">
                <a:solidFill>
                  <a:srgbClr val="06B6D4"/>
                </a:solidFill>
              </a:defRPr>
            </a:pPr>
            <a:r>
              <a:t>✔ Audit History &amp; Export</a:t>
            </a:r>
          </a:p>
          <a:p>
            <a:pPr>
              <a:defRPr sz="950">
                <a:solidFill>
                  <a:srgbClr val="E2E8F0"/>
                </a:solidFill>
              </a:defRPr>
            </a:pPr>
            <a:r>
              <a:t>Full historical audit logs with CSV report download.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20040"/>
            <a:ext cx="10698480" cy="274320"/>
          </a:xfrm>
          <a:prstGeom prst="rect">
            <a:avLst/>
          </a:prstGeom>
          <a:noFill/>
        </p:spPr>
        <p:txBody>
          <a:bodyPr wrap="square" lIns="0" tIns="0" rIns="0" bIns="0">
            <a:spAutoFit/>
          </a:bodyPr>
          <a:lstStyle/>
          <a:p>
            <a:pPr>
              <a:defRPr sz="1000" b="1">
                <a:solidFill>
                  <a:srgbClr val="06B6D4"/>
                </a:solidFill>
                <a:latin typeface="Calibri"/>
              </a:defRPr>
            </a:pPr>
            <a:r>
              <a:t>CAMPUS CONNECT | WEB ENGINEERING PROJECT</a:t>
            </a:r>
          </a:p>
        </p:txBody>
      </p:sp>
      <p:sp>
        <p:nvSpPr>
          <p:cNvPr id="4" name="TextBox 3"/>
          <p:cNvSpPr txBox="1"/>
          <p:nvPr/>
        </p:nvSpPr>
        <p:spPr>
          <a:xfrm>
            <a:off x="731520" y="594360"/>
            <a:ext cx="10698480" cy="548640"/>
          </a:xfrm>
          <a:prstGeom prst="rect">
            <a:avLst/>
          </a:prstGeom>
          <a:noFill/>
        </p:spPr>
        <p:txBody>
          <a:bodyPr wrap="square" lIns="0" tIns="0" rIns="0" bIns="0">
            <a:spAutoFit/>
          </a:bodyPr>
          <a:lstStyle/>
          <a:p>
            <a:pPr>
              <a:defRPr sz="2200" b="1">
                <a:solidFill>
                  <a:srgbClr val="FFFFFF"/>
                </a:solidFill>
                <a:latin typeface="Segoe UI"/>
              </a:defRPr>
            </a:pPr>
            <a:r>
              <a:t>Complete Website Demonstration Flow</a:t>
            </a:r>
          </a:p>
        </p:txBody>
      </p:sp>
      <p:sp>
        <p:nvSpPr>
          <p:cNvPr id="5" name="Rectangle 4"/>
          <p:cNvSpPr/>
          <p:nvPr/>
        </p:nvSpPr>
        <p:spPr>
          <a:xfrm>
            <a:off x="731520" y="1188720"/>
            <a:ext cx="2011680" cy="36576"/>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1691640" cy="3108960"/>
          </a:xfrm>
          <a:prstGeom prst="roundRect">
            <a:avLst/>
          </a:prstGeom>
          <a:solidFill>
            <a:srgbClr val="131D36"/>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22960" y="1554480"/>
            <a:ext cx="1508760" cy="4114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tIns="54864" rtlCol="0" anchor="ctr"/>
          <a:lstStyle/>
          <a:p>
            <a:pPr algn="ctr">
              <a:defRPr sz="950" b="1">
                <a:solidFill>
                  <a:srgbClr val="FFFFFF"/>
                </a:solidFill>
              </a:defRPr>
            </a:pPr>
            <a:r>
              <a:t>Step 1: Home &amp; Login</a:t>
            </a:r>
          </a:p>
        </p:txBody>
      </p:sp>
      <p:sp>
        <p:nvSpPr>
          <p:cNvPr id="8" name="TextBox 7"/>
          <p:cNvSpPr txBox="1"/>
          <p:nvPr/>
        </p:nvSpPr>
        <p:spPr>
          <a:xfrm>
            <a:off x="822960" y="2057400"/>
            <a:ext cx="1508760" cy="2377440"/>
          </a:xfrm>
          <a:prstGeom prst="rect">
            <a:avLst/>
          </a:prstGeom>
          <a:noFill/>
        </p:spPr>
        <p:txBody>
          <a:bodyPr wrap="square">
            <a:spAutoFit/>
          </a:bodyPr>
          <a:lstStyle/>
          <a:p>
            <a:pPr>
              <a:defRPr sz="1050">
                <a:solidFill>
                  <a:srgbClr val="E2E8F0"/>
                </a:solidFill>
              </a:defRPr>
            </a:pPr>
            <a:r>
              <a:t>Access landing page, select role tab, and sign into workspace.</a:t>
            </a:r>
          </a:p>
        </p:txBody>
      </p:sp>
      <p:sp>
        <p:nvSpPr>
          <p:cNvPr id="9" name="Rounded Rectangle 8"/>
          <p:cNvSpPr/>
          <p:nvPr/>
        </p:nvSpPr>
        <p:spPr>
          <a:xfrm>
            <a:off x="2542032" y="1463040"/>
            <a:ext cx="1691640" cy="3108960"/>
          </a:xfrm>
          <a:prstGeom prst="roundRect">
            <a:avLst/>
          </a:prstGeom>
          <a:solidFill>
            <a:srgbClr val="131D36"/>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2633472" y="1554480"/>
            <a:ext cx="1508760" cy="41148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tIns="54864" rtlCol="0" anchor="ctr"/>
          <a:lstStyle/>
          <a:p>
            <a:pPr algn="ctr">
              <a:defRPr sz="950" b="1">
                <a:solidFill>
                  <a:srgbClr val="FFFFFF"/>
                </a:solidFill>
              </a:defRPr>
            </a:pPr>
            <a:r>
              <a:t>Step 2: File Complaint</a:t>
            </a:r>
          </a:p>
        </p:txBody>
      </p:sp>
      <p:sp>
        <p:nvSpPr>
          <p:cNvPr id="11" name="TextBox 10"/>
          <p:cNvSpPr txBox="1"/>
          <p:nvPr/>
        </p:nvSpPr>
        <p:spPr>
          <a:xfrm>
            <a:off x="2633472" y="2057400"/>
            <a:ext cx="1508760" cy="2377440"/>
          </a:xfrm>
          <a:prstGeom prst="rect">
            <a:avLst/>
          </a:prstGeom>
          <a:noFill/>
        </p:spPr>
        <p:txBody>
          <a:bodyPr wrap="square">
            <a:spAutoFit/>
          </a:bodyPr>
          <a:lstStyle/>
          <a:p>
            <a:pPr>
              <a:defRPr sz="1050">
                <a:solidFill>
                  <a:srgbClr val="E2E8F0"/>
                </a:solidFill>
              </a:defRPr>
            </a:pPr>
            <a:r>
              <a:t>Student submits issue with location &amp; photo evidence.</a:t>
            </a:r>
          </a:p>
        </p:txBody>
      </p:sp>
      <p:sp>
        <p:nvSpPr>
          <p:cNvPr id="12" name="Rounded Rectangle 11"/>
          <p:cNvSpPr/>
          <p:nvPr/>
        </p:nvSpPr>
        <p:spPr>
          <a:xfrm>
            <a:off x="4352544" y="1463040"/>
            <a:ext cx="1691640" cy="3108960"/>
          </a:xfrm>
          <a:prstGeom prst="roundRect">
            <a:avLst/>
          </a:prstGeom>
          <a:solidFill>
            <a:srgbClr val="131D36"/>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443984" y="1554480"/>
            <a:ext cx="1508760" cy="41148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tIns="54864" rtlCol="0" anchor="ctr"/>
          <a:lstStyle/>
          <a:p>
            <a:pPr algn="ctr">
              <a:defRPr sz="950" b="1">
                <a:solidFill>
                  <a:srgbClr val="FFFFFF"/>
                </a:solidFill>
              </a:defRPr>
            </a:pPr>
            <a:r>
              <a:t>Step 3: Admin Dispatch</a:t>
            </a:r>
          </a:p>
        </p:txBody>
      </p:sp>
      <p:sp>
        <p:nvSpPr>
          <p:cNvPr id="14" name="TextBox 13"/>
          <p:cNvSpPr txBox="1"/>
          <p:nvPr/>
        </p:nvSpPr>
        <p:spPr>
          <a:xfrm>
            <a:off x="4443984" y="2057400"/>
            <a:ext cx="1508760" cy="2377440"/>
          </a:xfrm>
          <a:prstGeom prst="rect">
            <a:avLst/>
          </a:prstGeom>
          <a:noFill/>
        </p:spPr>
        <p:txBody>
          <a:bodyPr wrap="square">
            <a:spAutoFit/>
          </a:bodyPr>
          <a:lstStyle/>
          <a:p>
            <a:pPr>
              <a:defRPr sz="1050">
                <a:solidFill>
                  <a:srgbClr val="E2E8F0"/>
                </a:solidFill>
              </a:defRPr>
            </a:pPr>
            <a:r>
              <a:t>Admin verifies report and assigns technician with deadline.</a:t>
            </a:r>
          </a:p>
        </p:txBody>
      </p:sp>
      <p:sp>
        <p:nvSpPr>
          <p:cNvPr id="15" name="Rounded Rectangle 14"/>
          <p:cNvSpPr/>
          <p:nvPr/>
        </p:nvSpPr>
        <p:spPr>
          <a:xfrm>
            <a:off x="6163055" y="1463040"/>
            <a:ext cx="1691640" cy="3108960"/>
          </a:xfrm>
          <a:prstGeom prst="roundRect">
            <a:avLst/>
          </a:prstGeom>
          <a:solidFill>
            <a:srgbClr val="131D36"/>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254495" y="1554480"/>
            <a:ext cx="1508760" cy="41148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tIns="54864" rtlCol="0" anchor="ctr"/>
          <a:lstStyle/>
          <a:p>
            <a:pPr algn="ctr">
              <a:defRPr sz="950" b="1">
                <a:solidFill>
                  <a:srgbClr val="FFFFFF"/>
                </a:solidFill>
              </a:defRPr>
            </a:pPr>
            <a:r>
              <a:t>Step 4: Tech Repair</a:t>
            </a:r>
          </a:p>
        </p:txBody>
      </p:sp>
      <p:sp>
        <p:nvSpPr>
          <p:cNvPr id="17" name="TextBox 16"/>
          <p:cNvSpPr txBox="1"/>
          <p:nvPr/>
        </p:nvSpPr>
        <p:spPr>
          <a:xfrm>
            <a:off x="6254495" y="2057400"/>
            <a:ext cx="1508760" cy="2377440"/>
          </a:xfrm>
          <a:prstGeom prst="rect">
            <a:avLst/>
          </a:prstGeom>
          <a:noFill/>
        </p:spPr>
        <p:txBody>
          <a:bodyPr wrap="square">
            <a:spAutoFit/>
          </a:bodyPr>
          <a:lstStyle/>
          <a:p>
            <a:pPr>
              <a:defRPr sz="1050">
                <a:solidFill>
                  <a:srgbClr val="E2E8F0"/>
                </a:solidFill>
              </a:defRPr>
            </a:pPr>
            <a:r>
              <a:t>Technician accepts work order, fixes issue, uploads proof.</a:t>
            </a:r>
          </a:p>
        </p:txBody>
      </p:sp>
      <p:sp>
        <p:nvSpPr>
          <p:cNvPr id="18" name="Rounded Rectangle 17"/>
          <p:cNvSpPr/>
          <p:nvPr/>
        </p:nvSpPr>
        <p:spPr>
          <a:xfrm>
            <a:off x="7973568" y="1463040"/>
            <a:ext cx="1691640" cy="3108960"/>
          </a:xfrm>
          <a:prstGeom prst="roundRect">
            <a:avLst/>
          </a:prstGeom>
          <a:solidFill>
            <a:srgbClr val="131D3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065008" y="1554480"/>
            <a:ext cx="1508760" cy="41148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tIns="54864" rtlCol="0" anchor="ctr"/>
          <a:lstStyle/>
          <a:p>
            <a:pPr algn="ctr">
              <a:defRPr sz="950" b="1">
                <a:solidFill>
                  <a:srgbClr val="FFFFFF"/>
                </a:solidFill>
              </a:defRPr>
            </a:pPr>
            <a:r>
              <a:t>Step 5: Faculty QA</a:t>
            </a:r>
          </a:p>
        </p:txBody>
      </p:sp>
      <p:sp>
        <p:nvSpPr>
          <p:cNvPr id="20" name="TextBox 19"/>
          <p:cNvSpPr txBox="1"/>
          <p:nvPr/>
        </p:nvSpPr>
        <p:spPr>
          <a:xfrm>
            <a:off x="8065008" y="2057400"/>
            <a:ext cx="1508760" cy="2377440"/>
          </a:xfrm>
          <a:prstGeom prst="rect">
            <a:avLst/>
          </a:prstGeom>
          <a:noFill/>
        </p:spPr>
        <p:txBody>
          <a:bodyPr wrap="square">
            <a:spAutoFit/>
          </a:bodyPr>
          <a:lstStyle/>
          <a:p>
            <a:pPr>
              <a:defRPr sz="1050">
                <a:solidFill>
                  <a:srgbClr val="E2E8F0"/>
                </a:solidFill>
              </a:defRPr>
            </a:pPr>
            <a:r>
              <a:t>Faculty inspects proof and marks ticket Completed ✅.</a:t>
            </a:r>
          </a:p>
        </p:txBody>
      </p:sp>
      <p:sp>
        <p:nvSpPr>
          <p:cNvPr id="21" name="Rounded Rectangle 20"/>
          <p:cNvSpPr/>
          <p:nvPr/>
        </p:nvSpPr>
        <p:spPr>
          <a:xfrm>
            <a:off x="9784080" y="1463040"/>
            <a:ext cx="1691640" cy="3108960"/>
          </a:xfrm>
          <a:prstGeom prst="roundRect">
            <a:avLst/>
          </a:prstGeom>
          <a:solidFill>
            <a:srgbClr val="131D36"/>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9875520" y="1554480"/>
            <a:ext cx="1508760" cy="4114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tIns="54864" rtlCol="0" anchor="ctr"/>
          <a:lstStyle/>
          <a:p>
            <a:pPr algn="ctr">
              <a:defRPr sz="950" b="1">
                <a:solidFill>
                  <a:srgbClr val="FFFFFF"/>
                </a:solidFill>
              </a:defRPr>
            </a:pPr>
            <a:r>
              <a:t>Step 6: Feed Updated</a:t>
            </a:r>
          </a:p>
        </p:txBody>
      </p:sp>
      <p:sp>
        <p:nvSpPr>
          <p:cNvPr id="23" name="TextBox 22"/>
          <p:cNvSpPr txBox="1"/>
          <p:nvPr/>
        </p:nvSpPr>
        <p:spPr>
          <a:xfrm>
            <a:off x="9875520" y="2057400"/>
            <a:ext cx="1508760" cy="2377440"/>
          </a:xfrm>
          <a:prstGeom prst="rect">
            <a:avLst/>
          </a:prstGeom>
          <a:noFill/>
        </p:spPr>
        <p:txBody>
          <a:bodyPr wrap="square">
            <a:spAutoFit/>
          </a:bodyPr>
          <a:lstStyle/>
          <a:p>
            <a:pPr>
              <a:defRPr sz="1050">
                <a:solidFill>
                  <a:srgbClr val="E2E8F0"/>
                </a:solidFill>
              </a:defRPr>
            </a:pPr>
            <a:r>
              <a:t>Resolved complaint is displayed on public transparency feed.</a:t>
            </a:r>
          </a:p>
        </p:txBody>
      </p:sp>
      <p:sp>
        <p:nvSpPr>
          <p:cNvPr id="24" name="Rounded Rectangle 23"/>
          <p:cNvSpPr/>
          <p:nvPr/>
        </p:nvSpPr>
        <p:spPr>
          <a:xfrm>
            <a:off x="731520" y="4800600"/>
            <a:ext cx="10698480" cy="1600200"/>
          </a:xfrm>
          <a:prstGeom prst="roundRect">
            <a:avLst/>
          </a:prstGeom>
          <a:solidFill>
            <a:srgbClr val="131D36"/>
          </a:solidFill>
          <a:ln>
            <a:solidFill>
              <a:srgbClr val="10B981"/>
            </a:solidFill>
          </a:ln>
        </p:spPr>
        <p:style>
          <a:lnRef idx="1">
            <a:schemeClr val="accent1"/>
          </a:lnRef>
          <a:fillRef idx="3">
            <a:schemeClr val="accent1"/>
          </a:fillRef>
          <a:effectRef idx="2">
            <a:schemeClr val="accent1"/>
          </a:effectRef>
          <a:fontRef idx="minor">
            <a:schemeClr val="lt1"/>
          </a:fontRef>
        </p:style>
        <p:txBody>
          <a:bodyPr lIns="274320" tIns="164592" rtlCol="0" anchor="ctr"/>
          <a:lstStyle/>
          <a:p>
            <a:pPr algn="ctr">
              <a:defRPr sz="1200" b="1">
                <a:solidFill>
                  <a:srgbClr val="06B6D4"/>
                </a:solidFill>
              </a:defRPr>
            </a:pPr>
            <a:r>
              <a:t>LIVE SYSTEM DEMONSTRATION SUMMARY</a:t>
            </a:r>
          </a:p>
          <a:p>
            <a:pPr>
              <a:spcAft>
                <a:spcPts val="400"/>
              </a:spcAft>
              <a:defRPr sz="1200" b="1">
                <a:solidFill>
                  <a:srgbClr val="FFFFFF"/>
                </a:solidFill>
              </a:defRPr>
            </a:pPr>
            <a:r>
              <a:t>Open Website ➔ Login ➔ Report Issue ➔ Admin Dispatch ➔ Tech Repair &amp; Proof ➔ Faculty Verification ➔ Public Feed Updated</a:t>
            </a:r>
          </a:p>
          <a:p>
            <a:pPr>
              <a:defRPr sz="1100">
                <a:solidFill>
                  <a:srgbClr val="10B981"/>
                </a:solidFill>
              </a:defRPr>
            </a:pPr>
            <a:r>
              <a:t>• The entire lifecycle was tested and verified across all 4 roles with 100% automated test passing rate.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20040"/>
            <a:ext cx="10698480" cy="274320"/>
          </a:xfrm>
          <a:prstGeom prst="rect">
            <a:avLst/>
          </a:prstGeom>
          <a:noFill/>
        </p:spPr>
        <p:txBody>
          <a:bodyPr wrap="square" lIns="0" tIns="0" rIns="0" bIns="0">
            <a:spAutoFit/>
          </a:bodyPr>
          <a:lstStyle/>
          <a:p>
            <a:pPr>
              <a:defRPr sz="1000" b="1">
                <a:solidFill>
                  <a:srgbClr val="06B6D4"/>
                </a:solidFill>
                <a:latin typeface="Calibri"/>
              </a:defRPr>
            </a:pPr>
            <a:r>
              <a:t>CAMPUS CONNECT | WEB ENGINEERING PROJECT</a:t>
            </a:r>
          </a:p>
        </p:txBody>
      </p:sp>
      <p:sp>
        <p:nvSpPr>
          <p:cNvPr id="4" name="TextBox 3"/>
          <p:cNvSpPr txBox="1"/>
          <p:nvPr/>
        </p:nvSpPr>
        <p:spPr>
          <a:xfrm>
            <a:off x="731520" y="594360"/>
            <a:ext cx="10698480" cy="548640"/>
          </a:xfrm>
          <a:prstGeom prst="rect">
            <a:avLst/>
          </a:prstGeom>
          <a:noFill/>
        </p:spPr>
        <p:txBody>
          <a:bodyPr wrap="square" lIns="0" tIns="0" rIns="0" bIns="0">
            <a:spAutoFit/>
          </a:bodyPr>
          <a:lstStyle/>
          <a:p>
            <a:pPr>
              <a:defRPr sz="2200" b="1">
                <a:solidFill>
                  <a:srgbClr val="FFFFFF"/>
                </a:solidFill>
                <a:latin typeface="Segoe UI"/>
              </a:defRPr>
            </a:pPr>
            <a:r>
              <a:t>Advantages &amp; Institutional Impact</a:t>
            </a:r>
          </a:p>
        </p:txBody>
      </p:sp>
      <p:sp>
        <p:nvSpPr>
          <p:cNvPr id="5" name="Rectangle 4"/>
          <p:cNvSpPr/>
          <p:nvPr/>
        </p:nvSpPr>
        <p:spPr>
          <a:xfrm>
            <a:off x="731520" y="1188720"/>
            <a:ext cx="2011680" cy="36576"/>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3474720" cy="2194560"/>
          </a:xfrm>
          <a:prstGeom prst="roundRect">
            <a:avLst/>
          </a:prstGeom>
          <a:solidFill>
            <a:srgbClr val="131D36"/>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45920"/>
            <a:ext cx="3108960" cy="1828800"/>
          </a:xfrm>
          <a:prstGeom prst="rect">
            <a:avLst/>
          </a:prstGeom>
          <a:noFill/>
        </p:spPr>
        <p:txBody>
          <a:bodyPr wrap="square">
            <a:spAutoFit/>
          </a:bodyPr>
          <a:lstStyle/>
          <a:p>
            <a:pPr>
              <a:spcAft>
                <a:spcPts val="800"/>
              </a:spcAft>
              <a:defRPr sz="1200" b="1">
                <a:solidFill>
                  <a:srgbClr val="06B6D4"/>
                </a:solidFill>
              </a:defRPr>
            </a:pPr>
            <a:r>
              <a:t>✔ 90% Faster Turnaround</a:t>
            </a:r>
          </a:p>
          <a:p>
            <a:pPr>
              <a:defRPr sz="1100">
                <a:solidFill>
                  <a:srgbClr val="E2E8F0"/>
                </a:solidFill>
              </a:defRPr>
            </a:pPr>
            <a:r>
              <a:t>Reduces average campus repair cycle from 7–14 days down to 24–48 hours via direct dispatch.</a:t>
            </a:r>
          </a:p>
        </p:txBody>
      </p:sp>
      <p:sp>
        <p:nvSpPr>
          <p:cNvPr id="8" name="Rounded Rectangle 7"/>
          <p:cNvSpPr/>
          <p:nvPr/>
        </p:nvSpPr>
        <p:spPr>
          <a:xfrm>
            <a:off x="4343400" y="1463040"/>
            <a:ext cx="3474720" cy="2194560"/>
          </a:xfrm>
          <a:prstGeom prst="roundRect">
            <a:avLst/>
          </a:prstGeom>
          <a:solidFill>
            <a:srgbClr val="131D36"/>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26280" y="1645920"/>
            <a:ext cx="3108960" cy="1828800"/>
          </a:xfrm>
          <a:prstGeom prst="rect">
            <a:avLst/>
          </a:prstGeom>
          <a:noFill/>
        </p:spPr>
        <p:txBody>
          <a:bodyPr wrap="square">
            <a:spAutoFit/>
          </a:bodyPr>
          <a:lstStyle/>
          <a:p>
            <a:pPr>
              <a:spcAft>
                <a:spcPts val="800"/>
              </a:spcAft>
              <a:defRPr sz="1200" b="1">
                <a:solidFill>
                  <a:srgbClr val="2563EB"/>
                </a:solidFill>
              </a:defRPr>
            </a:pPr>
            <a:r>
              <a:t>✔ 100% Tracking Transparency</a:t>
            </a:r>
          </a:p>
          <a:p>
            <a:pPr>
              <a:defRPr sz="1100">
                <a:solidFill>
                  <a:srgbClr val="E2E8F0"/>
                </a:solidFill>
              </a:defRPr>
            </a:pPr>
            <a:r>
              <a:t>Students track their exact ticket stage with live progress bars and timestamps.</a:t>
            </a:r>
          </a:p>
        </p:txBody>
      </p:sp>
      <p:sp>
        <p:nvSpPr>
          <p:cNvPr id="10" name="Rounded Rectangle 9"/>
          <p:cNvSpPr/>
          <p:nvPr/>
        </p:nvSpPr>
        <p:spPr>
          <a:xfrm>
            <a:off x="7955280" y="1463040"/>
            <a:ext cx="3474720" cy="2194560"/>
          </a:xfrm>
          <a:prstGeom prst="roundRect">
            <a:avLst/>
          </a:prstGeom>
          <a:solidFill>
            <a:srgbClr val="131D3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38160" y="1645920"/>
            <a:ext cx="3108960" cy="1828800"/>
          </a:xfrm>
          <a:prstGeom prst="rect">
            <a:avLst/>
          </a:prstGeom>
          <a:noFill/>
        </p:spPr>
        <p:txBody>
          <a:bodyPr wrap="square">
            <a:spAutoFit/>
          </a:bodyPr>
          <a:lstStyle/>
          <a:p>
            <a:pPr>
              <a:spcAft>
                <a:spcPts val="800"/>
              </a:spcAft>
              <a:defRPr sz="1200" b="1">
                <a:solidFill>
                  <a:srgbClr val="10B981"/>
                </a:solidFill>
              </a:defRPr>
            </a:pPr>
            <a:r>
              <a:t>✔ Zero Paper Waste</a:t>
            </a:r>
          </a:p>
          <a:p>
            <a:pPr>
              <a:defRPr sz="1100">
                <a:solidFill>
                  <a:srgbClr val="E2E8F0"/>
                </a:solidFill>
              </a:defRPr>
            </a:pPr>
            <a:r>
              <a:t>Replaces physical complaint registers with centralized digital storage and CSV exports.</a:t>
            </a:r>
          </a:p>
        </p:txBody>
      </p:sp>
      <p:sp>
        <p:nvSpPr>
          <p:cNvPr id="12" name="Rounded Rectangle 11"/>
          <p:cNvSpPr/>
          <p:nvPr/>
        </p:nvSpPr>
        <p:spPr>
          <a:xfrm>
            <a:off x="731520" y="3886200"/>
            <a:ext cx="3474720" cy="2194560"/>
          </a:xfrm>
          <a:prstGeom prst="roundRect">
            <a:avLst/>
          </a:prstGeom>
          <a:solidFill>
            <a:srgbClr val="131D36"/>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4069080"/>
            <a:ext cx="3108960" cy="1828800"/>
          </a:xfrm>
          <a:prstGeom prst="rect">
            <a:avLst/>
          </a:prstGeom>
          <a:noFill/>
        </p:spPr>
        <p:txBody>
          <a:bodyPr wrap="square">
            <a:spAutoFit/>
          </a:bodyPr>
          <a:lstStyle/>
          <a:p>
            <a:pPr>
              <a:spcAft>
                <a:spcPts val="800"/>
              </a:spcAft>
              <a:defRPr sz="1200" b="1">
                <a:solidFill>
                  <a:srgbClr val="7C3AED"/>
                </a:solidFill>
              </a:defRPr>
            </a:pPr>
            <a:r>
              <a:t>✔ Verified Resolution Quality</a:t>
            </a:r>
          </a:p>
          <a:p>
            <a:pPr>
              <a:defRPr sz="1100">
                <a:solidFill>
                  <a:srgbClr val="E2E8F0"/>
                </a:solidFill>
              </a:defRPr>
            </a:pPr>
            <a:r>
              <a:t>Mandatory photo proof and faculty QA inspection prevent premature ticket closures.</a:t>
            </a:r>
          </a:p>
        </p:txBody>
      </p:sp>
      <p:sp>
        <p:nvSpPr>
          <p:cNvPr id="14" name="Rounded Rectangle 13"/>
          <p:cNvSpPr/>
          <p:nvPr/>
        </p:nvSpPr>
        <p:spPr>
          <a:xfrm>
            <a:off x="4343400" y="3886200"/>
            <a:ext cx="3474720" cy="2194560"/>
          </a:xfrm>
          <a:prstGeom prst="roundRect">
            <a:avLst/>
          </a:prstGeom>
          <a:solidFill>
            <a:srgbClr val="131D36"/>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26280" y="4069080"/>
            <a:ext cx="3108960" cy="1828800"/>
          </a:xfrm>
          <a:prstGeom prst="rect">
            <a:avLst/>
          </a:prstGeom>
          <a:noFill/>
        </p:spPr>
        <p:txBody>
          <a:bodyPr wrap="square">
            <a:spAutoFit/>
          </a:bodyPr>
          <a:lstStyle/>
          <a:p>
            <a:pPr>
              <a:spcAft>
                <a:spcPts val="800"/>
              </a:spcAft>
              <a:defRPr sz="1200" b="1">
                <a:solidFill>
                  <a:srgbClr val="F59E0B"/>
                </a:solidFill>
              </a:defRPr>
            </a:pPr>
            <a:r>
              <a:t>✔ Data-Driven Governance</a:t>
            </a:r>
          </a:p>
          <a:p>
            <a:pPr>
              <a:defRPr sz="1100">
                <a:solidFill>
                  <a:srgbClr val="E2E8F0"/>
                </a:solidFill>
              </a:defRPr>
            </a:pPr>
            <a:r>
              <a:t>Administrators can analyze failure trends, department workloads, and technician SLA performance.</a:t>
            </a:r>
          </a:p>
        </p:txBody>
      </p:sp>
      <p:sp>
        <p:nvSpPr>
          <p:cNvPr id="16" name="Rounded Rectangle 15"/>
          <p:cNvSpPr/>
          <p:nvPr/>
        </p:nvSpPr>
        <p:spPr>
          <a:xfrm>
            <a:off x="7955280" y="3886200"/>
            <a:ext cx="3474720" cy="2194560"/>
          </a:xfrm>
          <a:prstGeom prst="roundRect">
            <a:avLst/>
          </a:prstGeom>
          <a:solidFill>
            <a:srgbClr val="131D36"/>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38160" y="4069080"/>
            <a:ext cx="3108960" cy="1828800"/>
          </a:xfrm>
          <a:prstGeom prst="rect">
            <a:avLst/>
          </a:prstGeom>
          <a:noFill/>
        </p:spPr>
        <p:txBody>
          <a:bodyPr wrap="square">
            <a:spAutoFit/>
          </a:bodyPr>
          <a:lstStyle/>
          <a:p>
            <a:pPr>
              <a:spcAft>
                <a:spcPts val="800"/>
              </a:spcAft>
              <a:defRPr sz="1200" b="1">
                <a:solidFill>
                  <a:srgbClr val="EF4444"/>
                </a:solidFill>
              </a:defRPr>
            </a:pPr>
            <a:r>
              <a:t>✔ Enhanced Campus Safety</a:t>
            </a:r>
          </a:p>
          <a:p>
            <a:pPr>
              <a:defRPr sz="1100">
                <a:solidFill>
                  <a:srgbClr val="E2E8F0"/>
                </a:solidFill>
              </a:defRPr>
            </a:pPr>
            <a:r>
              <a:t>Immediate automatic hazard escalation ensures electrical and physical hazards are fixed promptly.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20040" cy="68580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822960"/>
            <a:ext cx="10058400" cy="3475310"/>
          </a:xfrm>
          <a:prstGeom prst="rect">
            <a:avLst/>
          </a:prstGeom>
          <a:noFill/>
        </p:spPr>
        <p:txBody>
          <a:bodyPr wrap="square">
            <a:spAutoFit/>
          </a:bodyPr>
          <a:lstStyle/>
          <a:p>
            <a:pPr>
              <a:spcAft>
                <a:spcPts val="800"/>
              </a:spcAft>
              <a:defRPr sz="1200" b="1">
                <a:solidFill>
                  <a:srgbClr val="06B6D4"/>
                </a:solidFill>
              </a:defRPr>
            </a:pPr>
            <a:r>
              <a:rPr dirty="0"/>
              <a:t>PROJECT SUMMARY &amp; CONCLUSION</a:t>
            </a:r>
          </a:p>
          <a:p>
            <a:pPr>
              <a:spcAft>
                <a:spcPts val="1800"/>
              </a:spcAft>
              <a:defRPr sz="2000" b="1">
                <a:solidFill>
                  <a:srgbClr val="FFFFFF"/>
                </a:solidFill>
              </a:defRPr>
            </a:pPr>
            <a:r>
              <a:rPr dirty="0"/>
              <a:t>Campus Connect transforms traditional campus complaint handling into a structured, transparent, and technology-driven resolution system.</a:t>
            </a:r>
          </a:p>
          <a:p>
            <a:pPr>
              <a:spcAft>
                <a:spcPts val="600"/>
              </a:spcAft>
              <a:defRPr sz="1300" b="1">
                <a:solidFill>
                  <a:srgbClr val="7C3AED"/>
                </a:solidFill>
              </a:defRPr>
            </a:pPr>
            <a:r>
              <a:rPr dirty="0"/>
              <a:t>This project demonstrates practical implementation of:</a:t>
            </a:r>
          </a:p>
          <a:p>
            <a:pPr>
              <a:spcAft>
                <a:spcPts val="400"/>
              </a:spcAft>
              <a:defRPr sz="1150">
                <a:solidFill>
                  <a:srgbClr val="E2E8F0"/>
                </a:solidFill>
              </a:defRPr>
            </a:pPr>
            <a:r>
              <a:rPr dirty="0"/>
              <a:t>✔ Semantic HTML5 Structure &amp; Responsive Web Layouts</a:t>
            </a:r>
          </a:p>
          <a:p>
            <a:pPr>
              <a:spcAft>
                <a:spcPts val="400"/>
              </a:spcAft>
              <a:defRPr sz="1150">
                <a:solidFill>
                  <a:srgbClr val="E2E8F0"/>
                </a:solidFill>
              </a:defRPr>
            </a:pPr>
            <a:r>
              <a:rPr dirty="0"/>
              <a:t>✔ Modern CSS3 Design System with Dark/Light </a:t>
            </a:r>
            <a:r>
              <a:rPr dirty="0" err="1"/>
              <a:t>Glassmorphism</a:t>
            </a:r>
            <a:endParaRPr dirty="0"/>
          </a:p>
          <a:p>
            <a:pPr>
              <a:spcAft>
                <a:spcPts val="400"/>
              </a:spcAft>
              <a:defRPr sz="1150">
                <a:solidFill>
                  <a:srgbClr val="E2E8F0"/>
                </a:solidFill>
              </a:defRPr>
            </a:pPr>
            <a:r>
              <a:rPr dirty="0"/>
              <a:t>✔ Vanilla JavaScript ES6+ State Machine &amp; </a:t>
            </a:r>
            <a:r>
              <a:rPr dirty="0" err="1"/>
              <a:t>LocalStorage</a:t>
            </a:r>
            <a:r>
              <a:rPr dirty="0"/>
              <a:t> Management</a:t>
            </a:r>
          </a:p>
          <a:p>
            <a:pPr>
              <a:spcAft>
                <a:spcPts val="400"/>
              </a:spcAft>
              <a:defRPr sz="1150">
                <a:solidFill>
                  <a:srgbClr val="E2E8F0"/>
                </a:solidFill>
              </a:defRPr>
            </a:pPr>
            <a:r>
              <a:rPr dirty="0"/>
              <a:t>✔ Multi-Role Workflow Governance (Student → Admin → Tech → Faculty)</a:t>
            </a:r>
          </a:p>
          <a:p>
            <a:pPr>
              <a:spcAft>
                <a:spcPts val="400"/>
              </a:spcAft>
              <a:defRPr sz="1150">
                <a:solidFill>
                  <a:srgbClr val="E2E8F0"/>
                </a:solidFill>
              </a:defRPr>
            </a:pPr>
            <a:r>
              <a:rPr dirty="0"/>
              <a:t>✔ Interactive Data Visualization with Chart.js Analytics</a:t>
            </a:r>
          </a:p>
          <a:p>
            <a:br>
              <a:rPr dirty="0"/>
            </a:br>
            <a:r>
              <a:rPr lang="en-IN" dirty="0"/>
              <a:t>Thank You! </a:t>
            </a:r>
          </a:p>
          <a:p>
            <a:endParaRPr dirty="0"/>
          </a:p>
        </p:txBody>
      </p:sp>
      <p:pic>
        <p:nvPicPr>
          <p:cNvPr id="6" name="Picture 5">
            <a:extLst>
              <a:ext uri="{FF2B5EF4-FFF2-40B4-BE49-F238E27FC236}">
                <a16:creationId xmlns:a16="http://schemas.microsoft.com/office/drawing/2014/main" id="{84658544-A4BE-C0A3-F477-C339BD82524D}"/>
              </a:ext>
            </a:extLst>
          </p:cNvPr>
          <p:cNvPicPr>
            <a:picLocks noChangeAspect="1"/>
          </p:cNvPicPr>
          <p:nvPr/>
        </p:nvPicPr>
        <p:blipFill>
          <a:blip r:embed="rId3"/>
          <a:stretch>
            <a:fillRect/>
          </a:stretch>
        </p:blipFill>
        <p:spPr>
          <a:xfrm>
            <a:off x="9969910" y="4792243"/>
            <a:ext cx="2041668" cy="1612490"/>
          </a:xfrm>
          <a:prstGeom prst="rect">
            <a:avLst/>
          </a:prstGeom>
        </p:spPr>
      </p:pic>
    </p:spTree>
  </p:cSld>
  <p:clrMapOvr>
    <a:masterClrMapping/>
  </p:clrMapOvr>
</p:sld>
</file>

<file path=ppt/theme/theme1.xml><?xml version="1.0" encoding="utf-8"?>
<a:theme xmlns:a="http://schemas.openxmlformats.org/drawingml/2006/main" name="Film Burn">
  <a:themeElements>
    <a:clrScheme name="Custom 2">
      <a:dk1>
        <a:srgbClr val="09090C"/>
      </a:dk1>
      <a:lt1>
        <a:sysClr val="window" lastClr="FFFFFF"/>
      </a:lt1>
      <a:dk2>
        <a:srgbClr val="000000"/>
      </a:dk2>
      <a:lt2>
        <a:srgbClr val="F9EFEC"/>
      </a:lt2>
      <a:accent1>
        <a:srgbClr val="CB49B2"/>
      </a:accent1>
      <a:accent2>
        <a:srgbClr val="7C3191"/>
      </a:accent2>
      <a:accent3>
        <a:srgbClr val="E95D48"/>
      </a:accent3>
      <a:accent4>
        <a:srgbClr val="F08E6B"/>
      </a:accent4>
      <a:accent5>
        <a:srgbClr val="D93752"/>
      </a:accent5>
      <a:accent6>
        <a:srgbClr val="EE7345"/>
      </a:accent6>
      <a:hlink>
        <a:srgbClr val="CB49B2"/>
      </a:hlink>
      <a:folHlink>
        <a:srgbClr val="E95D48"/>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lm burn" id="{4524321E-1019-4E52-AA1C-5D37B75CD749}" vid="{4A46179B-AA1B-40E1-9320-430DA2EBD8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Film Burn</Template>
  <TotalTime>16</TotalTime>
  <Words>3679</Words>
  <Application>Microsoft Office PowerPoint</Application>
  <PresentationFormat>Widescreen</PresentationFormat>
  <Paragraphs>317</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Neue Haas Grotesk Text Pro</vt:lpstr>
      <vt:lpstr>Film Burn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darshan mehta</cp:lastModifiedBy>
  <cp:revision>2</cp:revision>
  <dcterms:created xsi:type="dcterms:W3CDTF">2013-01-27T09:14:16Z</dcterms:created>
  <dcterms:modified xsi:type="dcterms:W3CDTF">2026-08-20T11:45:13Z</dcterms:modified>
  <cp:category/>
</cp:coreProperties>
</file>